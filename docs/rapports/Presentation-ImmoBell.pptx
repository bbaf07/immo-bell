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Bienvenue. En dix minutes : ce que fait Immo Bell, comment le site protège chaque dossier, puis ce qu’il faut mettre en place à Douala (équipe, budget, calendrier). Les montants sont des hypothèses de travail à valider par devis locaux.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Texte d’accueil du site : nous accompagnons les personnes physiques et morales dans la gestion des biens meubles et immeubles, à travers la gestion locative 360 degrés, les fonds de commerce, les aménagements et déménagements, et l’entretien de l’appareillage et des biens. Immo Bell n’est pas propriétaire des biens : elle étudie les dossiers et gère les demandes.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Démonstration en direct possible : « Mon espace », puis un clic sur l’un des cinq profils. Les profils de démonstration enregistrent leurs actions dans le navigateur ; ce ne sont pas de vrais comptes. Le serveur réel gère de vrais comptes avec des droits contrôlés côté serveur.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Étapes affichées au client dans son tableau de bord. Le pôle juridique décide sous 72 h ; l’administration voit les délais qui approchent. La solvabilité est testée automatiquement avec la règle du tiers : le loyer ne dépasse pas un tiers du revenu net.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Mots de passe hachés, sessions par cookie signé, limitation des tentatives de connexion, lien de réinitialisation à usage unique valable une heure. Ces règles sont vérifiées par des tests automatiques. Un audit indépendant n’a pas encore été fait : ne pas l’affirmer.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Taux repris du prototype ; la base de calcul définitive des packs reste à arrêter entre associés. Le seuil de rentabilité vient d’un loyer moyen de 425 000 FCFA (moyenne des huit locations d’exemple) et des charges mensuelles estimées dans le rapport n° 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Salaires bruts mensuels estimés par poste, avec 15 à 20 % de charges patronales. À remplacer par les salaires réels du marché de Douala. L’analyste juridique est appuyé par un avocat conseil externe.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Chiffres du rapport n° 2, section Budget. Fourchettes que j’ai estimées moi-même, ce ne sont pas des devis. Le montant à lever, la répartition entre apport des associés et financement externe, et la rémunération des fondateurs restent à arrêter entre associés.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Calendrier indicatif. Le site annonce les déménagements dès le 30 octobre 2026 et la flotte Yango au 1er janvier 2027 : ces dates sont à ajuster avec l’équipe selon la mise en place réelle.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Passer à la démonstration : « Mon espace », puis les profils Client, Analyste juridique, Propriétaire, Prestataire et Administrateur. Le guide de démonstration PDF donne le déroulé et les comptes fictifs. Rappeler que les profils sont des profils de démonstration et que les montants sont des hypothèses.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Remercier les investisseurs pour leur temps, puis ouvrir les questions et lancer la démonstration. Garder sous la main le rapport n° 2 pour les chiffres et le guide de démonstration pour les comptes fictifs.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E0B"/>
        </a:solidFill>
        <a:effectLst/>
      </p:bgPr>
    </p:bg>
    <p:spTree>
      <p:nvGrpSpPr>
        <p:cNvPr id="1" name=""/>
        <p:cNvGrpSpPr/>
        <p:nvPr/>
      </p:nvGrpSpPr>
      <p:grpSpPr/>
      <p:pic>
        <p:nvPicPr>
          <p:cNvPr id="2" name="Picture 1" descr="logo-light.png"/>
          <p:cNvPicPr>
            <a:picLocks noChangeAspect="1"/>
          </p:cNvPicPr>
          <p:nvPr/>
        </p:nvPicPr>
        <p:blipFill>
          <a:blip r:embed="rId3"/>
          <a:stretch>
            <a:fillRect/>
          </a:stretch>
        </p:blipFill>
        <p:spPr>
          <a:xfrm>
            <a:off x="812800" y="533400"/>
            <a:ext cx="1206500" cy="977900"/>
          </a:xfrm>
          <a:prstGeom prst="rect">
            <a:avLst/>
          </a:prstGeom>
        </p:spPr>
      </p:pic>
      <p:sp>
        <p:nvSpPr>
          <p:cNvPr id="3" name="Rectangle 2"/>
          <p:cNvSpPr/>
          <p:nvPr/>
        </p:nvSpPr>
        <p:spPr>
          <a:xfrm>
            <a:off x="812800" y="1752600"/>
            <a:ext cx="1270000" cy="50800"/>
          </a:xfrm>
          <a:prstGeom prst="rect">
            <a:avLst/>
          </a:prstGeom>
          <a:solidFill>
            <a:srgbClr val="F2B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4" name="Rectangle 3"/>
          <p:cNvSpPr/>
          <p:nvPr/>
        </p:nvSpPr>
        <p:spPr>
          <a:xfrm>
            <a:off x="812800" y="2032000"/>
            <a:ext cx="9906000" cy="254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lnSpc>
                <a:spcPct val="90000"/>
              </a:lnSpc>
              <a:spcAft>
                <a:spcPts val="0"/>
              </a:spcAft>
            </a:pPr>
            <a:r>
              <a:rPr sz="6000" b="1">
                <a:solidFill>
                  <a:srgbClr val="F4EFE2"/>
                </a:solidFill>
                <a:latin typeface="Arial"/>
              </a:rPr>
              <a:t>Un nom de prestige, une gestion d’excellence</a:t>
            </a:r>
          </a:p>
        </p:txBody>
      </p:sp>
      <p:sp>
        <p:nvSpPr>
          <p:cNvPr id="5" name="Rectangle 4"/>
          <p:cNvSpPr/>
          <p:nvPr/>
        </p:nvSpPr>
        <p:spPr>
          <a:xfrm>
            <a:off x="812800" y="4826000"/>
            <a:ext cx="9525000" cy="76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2200" b="0">
                <a:solidFill>
                  <a:srgbClr val="BDB6A3"/>
                </a:solidFill>
                <a:latin typeface="Arial"/>
              </a:rPr>
              <a:t>Gestion locative et services immobiliers à Bonanjo, Douala</a:t>
            </a:r>
          </a:p>
        </p:txBody>
      </p:sp>
      <p:sp>
        <p:nvSpPr>
          <p:cNvPr id="6" name="Rectangle 5"/>
          <p:cNvSpPr/>
          <p:nvPr/>
        </p:nvSpPr>
        <p:spPr>
          <a:xfrm>
            <a:off x="812800" y="5969000"/>
            <a:ext cx="7620000" cy="25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200" b="0">
                <a:solidFill>
                  <a:srgbClr val="BDB6A3"/>
                </a:solidFill>
                <a:latin typeface="Arial"/>
              </a:rPr>
              <a:t>Présentation aux investisseurs · Octobre 2026</a:t>
            </a: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8" fill="hold">
                            <p:stCondLst>
                              <p:cond delay="500"/>
                            </p:stCondLst>
                            <p:childTnLst>
                              <p:par>
                                <p:cTn id="11" presetID="22" presetClass="entr" presetSubtype="8"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left)">
                                      <p:cBhvr>
                                        <p:cTn id="10" dur="500"/>
                                        <p:tgtEl>
                                          <p:spTgt spid="3"/>
                                        </p:tgtEl>
                                      </p:cBhvr>
                                    </p:animEffect>
                                  </p:childTnLst>
                                </p:cTn>
                              </p:par>
                            </p:childTnLst>
                          </p:cTn>
                        </p:par>
                        <p:par>
                          <p:cTn id="12" fill="hold">
                            <p:stCondLst>
                              <p:cond delay="1000"/>
                            </p:stCondLst>
                            <p:childTnLst>
                              <p:par>
                                <p:cTn id="15" presetID="22" presetClass="entr" presetSubtype="4"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500"/>
                                        <p:tgtEl>
                                          <p:spTgt spid="4"/>
                                        </p:tgtEl>
                                      </p:cBhvr>
                                    </p:animEffect>
                                  </p:childTnLst>
                                </p:cTn>
                              </p:par>
                            </p:childTnLst>
                          </p:cTn>
                        </p:par>
                        <p:par>
                          <p:cTn id="16" fill="hold">
                            <p:stCondLst>
                              <p:cond delay="1500"/>
                            </p:stCondLst>
                            <p:childTnLst>
                              <p:par>
                                <p:cTn id="19" presetID="22" presetClass="entr" presetSubtype="4"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down)">
                                      <p:cBhvr>
                                        <p:cTn id="18" dur="500"/>
                                        <p:tgtEl>
                                          <p:spTgt spid="5"/>
                                        </p:tgtEl>
                                      </p:cBhvr>
                                    </p:animEffect>
                                  </p:childTnLst>
                                </p:cTn>
                              </p:par>
                            </p:childTnLst>
                          </p:cTn>
                        </p:par>
                        <p:par>
                          <p:cTn id="20" fill="hold">
                            <p:stCondLst>
                              <p:cond delay="2000"/>
                            </p:stCondLst>
                            <p:childTnLst>
                              <p:par>
                                <p:cTn id="23" presetID="10"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EFE2"/>
        </a:solidFill>
        <a:effectLst/>
      </p:bgPr>
    </p:bg>
    <p:spTree>
      <p:nvGrpSpPr>
        <p:cNvPr id="1" name=""/>
        <p:cNvGrpSpPr/>
        <p:nvPr/>
      </p:nvGrpSpPr>
      <p:grpSpPr/>
      <p:sp>
        <p:nvSpPr>
          <p:cNvPr id="2" name="Rectangle 1"/>
          <p:cNvSpPr/>
          <p:nvPr/>
        </p:nvSpPr>
        <p:spPr>
          <a:xfrm>
            <a:off x="812800" y="762000"/>
            <a:ext cx="10566400" cy="25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200" b="1">
                <a:solidFill>
                  <a:srgbClr val="7A5A00"/>
                </a:solidFill>
                <a:latin typeface="Arial"/>
              </a:rPr>
              <a:t>L’OFFRE</a:t>
            </a:r>
          </a:p>
        </p:txBody>
      </p:sp>
      <p:sp>
        <p:nvSpPr>
          <p:cNvPr id="3" name="Rectangle 2"/>
          <p:cNvSpPr/>
          <p:nvPr/>
        </p:nvSpPr>
        <p:spPr>
          <a:xfrm>
            <a:off x="812800" y="1066800"/>
            <a:ext cx="10566400" cy="571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lnSpc>
                <a:spcPct val="95000"/>
              </a:lnSpc>
              <a:spcAft>
                <a:spcPts val="0"/>
              </a:spcAft>
            </a:pPr>
            <a:r>
              <a:rPr sz="3600" b="1">
                <a:solidFill>
                  <a:srgbClr val="1A1813"/>
                </a:solidFill>
                <a:latin typeface="Arial"/>
              </a:rPr>
              <a:t>Gérer les biens meubles et immeubles</a:t>
            </a:r>
          </a:p>
        </p:txBody>
      </p:sp>
      <p:sp>
        <p:nvSpPr>
          <p:cNvPr id="4" name="Rectangle 3"/>
          <p:cNvSpPr/>
          <p:nvPr/>
        </p:nvSpPr>
        <p:spPr>
          <a:xfrm>
            <a:off x="812800" y="1841500"/>
            <a:ext cx="10566400" cy="317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600" b="0">
                <a:solidFill>
                  <a:srgbClr val="5A5547"/>
                </a:solidFill>
                <a:latin typeface="Arial"/>
              </a:rPr>
              <a:t>Pour les personnes physiques et morales, à Douala.</a:t>
            </a:r>
          </a:p>
        </p:txBody>
      </p:sp>
      <p:sp>
        <p:nvSpPr>
          <p:cNvPr id="5" name="Rounded Rectangle 4"/>
          <p:cNvSpPr/>
          <p:nvPr/>
        </p:nvSpPr>
        <p:spPr>
          <a:xfrm>
            <a:off x="812800" y="2349500"/>
            <a:ext cx="5181600" cy="1714500"/>
          </a:xfrm>
          <a:prstGeom prst="roundRect">
            <a:avLst>
              <a:gd name="adj" fmla="val 5925"/>
            </a:avLst>
          </a:prstGeom>
          <a:solidFill>
            <a:srgbClr val="FBF8EF"/>
          </a:solidFill>
          <a:ln w="9525">
            <a:solidFill>
              <a:srgbClr val="DCD4BD"/>
            </a:solidFill>
          </a:ln>
          <a:effectLst/>
        </p:spPr>
        <p:style>
          <a:lnRef idx="1">
            <a:schemeClr val="accent1"/>
          </a:lnRef>
          <a:fillRef idx="3">
            <a:schemeClr val="accent1"/>
          </a:fillRef>
          <a:effectRef idx="2">
            <a:schemeClr val="accent1"/>
          </a:effectRef>
          <a:fontRef idx="minor">
            <a:schemeClr val="lt1"/>
          </a:fontRef>
        </p:style>
        <p:txBody>
          <a:bodyPr rtlCol="0" anchor="t" wrap="square" lIns="215900" rIns="215900" tIns="215900" bIns="215900"/>
          <a:lstStyle/>
          <a:p>
            <a:pPr algn="l">
              <a:spcAft>
                <a:spcPts val="600"/>
              </a:spcAft>
            </a:pPr>
            <a:r>
              <a:rPr sz="2000" b="1">
                <a:solidFill>
                  <a:srgbClr val="1A1813"/>
                </a:solidFill>
                <a:latin typeface="Arial"/>
              </a:rPr>
              <a:t>Gestion locative 360°</a:t>
            </a:r>
          </a:p>
          <a:p>
            <a:pPr algn="l">
              <a:lnSpc>
                <a:spcPct val="110000"/>
              </a:lnSpc>
              <a:spcAft>
                <a:spcPts val="0"/>
              </a:spcAft>
            </a:pPr>
            <a:r>
              <a:rPr sz="1400" b="0">
                <a:solidFill>
                  <a:srgbClr val="5A5547"/>
                </a:solidFill>
                <a:latin typeface="Arial"/>
              </a:rPr>
              <a:t>Annonces validées, étude des dossiers sous 72 h, état des lieux, suivi des urgences.</a:t>
            </a:r>
          </a:p>
        </p:txBody>
      </p:sp>
      <p:sp>
        <p:nvSpPr>
          <p:cNvPr id="6" name="Rounded Rectangle 5"/>
          <p:cNvSpPr/>
          <p:nvPr/>
        </p:nvSpPr>
        <p:spPr>
          <a:xfrm>
            <a:off x="6197600" y="2349500"/>
            <a:ext cx="5181600" cy="1714500"/>
          </a:xfrm>
          <a:prstGeom prst="roundRect">
            <a:avLst>
              <a:gd name="adj" fmla="val 5925"/>
            </a:avLst>
          </a:prstGeom>
          <a:solidFill>
            <a:srgbClr val="FBF8EF"/>
          </a:solidFill>
          <a:ln w="9525">
            <a:solidFill>
              <a:srgbClr val="DCD4BD"/>
            </a:solidFill>
          </a:ln>
          <a:effectLst/>
        </p:spPr>
        <p:style>
          <a:lnRef idx="1">
            <a:schemeClr val="accent1"/>
          </a:lnRef>
          <a:fillRef idx="3">
            <a:schemeClr val="accent1"/>
          </a:fillRef>
          <a:effectRef idx="2">
            <a:schemeClr val="accent1"/>
          </a:effectRef>
          <a:fontRef idx="minor">
            <a:schemeClr val="lt1"/>
          </a:fontRef>
        </p:style>
        <p:txBody>
          <a:bodyPr rtlCol="0" anchor="t" wrap="square" lIns="215900" rIns="215900" tIns="215900" bIns="215900"/>
          <a:lstStyle/>
          <a:p>
            <a:pPr algn="l">
              <a:spcAft>
                <a:spcPts val="600"/>
              </a:spcAft>
            </a:pPr>
            <a:r>
              <a:rPr sz="2000" b="1">
                <a:solidFill>
                  <a:srgbClr val="1A1813"/>
                </a:solidFill>
                <a:latin typeface="Arial"/>
              </a:rPr>
              <a:t>Fonds de commerce</a:t>
            </a:r>
          </a:p>
          <a:p>
            <a:pPr algn="l">
              <a:lnSpc>
                <a:spcPct val="110000"/>
              </a:lnSpc>
              <a:spcAft>
                <a:spcPts val="0"/>
              </a:spcAft>
            </a:pPr>
            <a:r>
              <a:rPr sz="1400" b="0">
                <a:solidFill>
                  <a:srgbClr val="5A5547"/>
                </a:solidFill>
                <a:latin typeface="Arial"/>
              </a:rPr>
              <a:t>Étude des deux parties, évaluation, contrat de vente ou de location-gérance.</a:t>
            </a:r>
          </a:p>
        </p:txBody>
      </p:sp>
      <p:sp>
        <p:nvSpPr>
          <p:cNvPr id="7" name="Rounded Rectangle 6"/>
          <p:cNvSpPr/>
          <p:nvPr/>
        </p:nvSpPr>
        <p:spPr>
          <a:xfrm>
            <a:off x="812800" y="4191000"/>
            <a:ext cx="5181600" cy="1714500"/>
          </a:xfrm>
          <a:prstGeom prst="roundRect">
            <a:avLst>
              <a:gd name="adj" fmla="val 5925"/>
            </a:avLst>
          </a:prstGeom>
          <a:solidFill>
            <a:srgbClr val="FBF8EF"/>
          </a:solidFill>
          <a:ln w="9525">
            <a:solidFill>
              <a:srgbClr val="DCD4BD"/>
            </a:solidFill>
          </a:ln>
          <a:effectLst/>
        </p:spPr>
        <p:style>
          <a:lnRef idx="1">
            <a:schemeClr val="accent1"/>
          </a:lnRef>
          <a:fillRef idx="3">
            <a:schemeClr val="accent1"/>
          </a:fillRef>
          <a:effectRef idx="2">
            <a:schemeClr val="accent1"/>
          </a:effectRef>
          <a:fontRef idx="minor">
            <a:schemeClr val="lt1"/>
          </a:fontRef>
        </p:style>
        <p:txBody>
          <a:bodyPr rtlCol="0" anchor="t" wrap="square" lIns="215900" rIns="215900" tIns="215900" bIns="215900"/>
          <a:lstStyle/>
          <a:p>
            <a:pPr algn="l">
              <a:spcAft>
                <a:spcPts val="600"/>
              </a:spcAft>
            </a:pPr>
            <a:r>
              <a:rPr sz="2000" b="1">
                <a:solidFill>
                  <a:srgbClr val="1A1813"/>
                </a:solidFill>
                <a:latin typeface="Arial"/>
              </a:rPr>
              <a:t>Aménagements et déménagements</a:t>
            </a:r>
          </a:p>
          <a:p>
            <a:pPr algn="l">
              <a:lnSpc>
                <a:spcPct val="110000"/>
              </a:lnSpc>
              <a:spcAft>
                <a:spcPts val="0"/>
              </a:spcAft>
            </a:pPr>
            <a:r>
              <a:rPr sz="1400" b="0">
                <a:solidFill>
                  <a:srgbClr val="5A5547"/>
                </a:solidFill>
                <a:latin typeface="Arial"/>
              </a:rPr>
              <a:t>Trois formules, Classique, Standard et Golf, du transport à l’assainissement.</a:t>
            </a:r>
          </a:p>
        </p:txBody>
      </p:sp>
      <p:sp>
        <p:nvSpPr>
          <p:cNvPr id="8" name="Rounded Rectangle 7"/>
          <p:cNvSpPr/>
          <p:nvPr/>
        </p:nvSpPr>
        <p:spPr>
          <a:xfrm>
            <a:off x="6197600" y="4191000"/>
            <a:ext cx="5181600" cy="1714500"/>
          </a:xfrm>
          <a:prstGeom prst="roundRect">
            <a:avLst>
              <a:gd name="adj" fmla="val 5925"/>
            </a:avLst>
          </a:prstGeom>
          <a:solidFill>
            <a:srgbClr val="F2B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15900" rIns="215900" tIns="215900" bIns="215900"/>
          <a:lstStyle/>
          <a:p>
            <a:pPr algn="l">
              <a:spcAft>
                <a:spcPts val="600"/>
              </a:spcAft>
            </a:pPr>
            <a:r>
              <a:rPr sz="2000" b="1">
                <a:solidFill>
                  <a:srgbClr val="1A1813"/>
                </a:solidFill>
                <a:latin typeface="Arial"/>
              </a:rPr>
              <a:t>Entretien des biens</a:t>
            </a:r>
          </a:p>
          <a:p>
            <a:pPr algn="l">
              <a:lnSpc>
                <a:spcPct val="110000"/>
              </a:lnSpc>
              <a:spcAft>
                <a:spcPts val="0"/>
              </a:spcAft>
            </a:pPr>
            <a:r>
              <a:rPr sz="1400" b="0">
                <a:solidFill>
                  <a:srgbClr val="1A1813"/>
                </a:solidFill>
                <a:latin typeface="Arial"/>
              </a:rPr>
              <a:t>Plomberie, électricité, jardinage et BTP par des prestataires agréés.</a:t>
            </a:r>
          </a:p>
        </p:txBody>
      </p:sp>
      <p:sp>
        <p:nvSpPr>
          <p:cNvPr id="9" name="Rectangle 8"/>
          <p:cNvSpPr/>
          <p:nvPr/>
        </p:nvSpPr>
        <p:spPr>
          <a:xfrm>
            <a:off x="812800" y="6191250"/>
            <a:ext cx="5080000" cy="25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200" b="0">
                <a:solidFill>
                  <a:srgbClr val="5A5547"/>
                </a:solidFill>
                <a:latin typeface="Arial"/>
              </a:rPr>
              <a:t>Immo Bell · Confidentiel</a:t>
            </a:r>
          </a:p>
        </p:txBody>
      </p:sp>
      <p:pic>
        <p:nvPicPr>
          <p:cNvPr id="10" name="Picture 9" descr="logo.png"/>
          <p:cNvPicPr>
            <a:picLocks noChangeAspect="1"/>
          </p:cNvPicPr>
          <p:nvPr/>
        </p:nvPicPr>
        <p:blipFill>
          <a:blip r:embed="rId3"/>
          <a:stretch>
            <a:fillRect/>
          </a:stretch>
        </p:blipFill>
        <p:spPr>
          <a:xfrm>
            <a:off x="10617200" y="6019800"/>
            <a:ext cx="762000" cy="61595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childTnLst>
                          </p:cTn>
                        </p:par>
                        <p:par>
                          <p:cTn id="8" fill="hold">
                            <p:stCondLst>
                              <p:cond delay="500"/>
                            </p:stCondLst>
                            <p:childTnLst>
                              <p:par>
                                <p:cTn id="11" presetID="22" presetClass="entr" presetSubtype="4" fill="hold" grpId="0" nodeType="after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childTnLst>
                          </p:cTn>
                        </p:par>
                        <p:par>
                          <p:cTn id="12" fill="hold">
                            <p:stCondLst>
                              <p:cond delay="1000"/>
                            </p:stCondLst>
                            <p:childTnLst>
                              <p:par>
                                <p:cTn id="15" presetID="22" presetClass="entr" presetSubtype="4"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down)">
                                      <p:cBhvr>
                                        <p:cTn id="14" dur="500"/>
                                        <p:tgtEl>
                                          <p:spTgt spid="6"/>
                                        </p:tgtEl>
                                      </p:cBhvr>
                                    </p:animEffect>
                                  </p:childTnLst>
                                </p:cTn>
                              </p:par>
                            </p:childTnLst>
                          </p:cTn>
                        </p:par>
                        <p:par>
                          <p:cTn id="16" fill="hold">
                            <p:stCondLst>
                              <p:cond delay="1500"/>
                            </p:stCondLst>
                            <p:childTnLst>
                              <p:par>
                                <p:cTn id="19" presetID="22" presetClass="entr" presetSubtype="4"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down)">
                                      <p:cBhvr>
                                        <p:cTn id="18" dur="500"/>
                                        <p:tgtEl>
                                          <p:spTgt spid="7"/>
                                        </p:tgtEl>
                                      </p:cBhvr>
                                    </p:animEffect>
                                  </p:childTnLst>
                                </p:cTn>
                              </p:par>
                            </p:childTnLst>
                          </p:cTn>
                        </p:par>
                        <p:par>
                          <p:cTn id="20" fill="hold">
                            <p:stCondLst>
                              <p:cond delay="2000"/>
                            </p:stCondLst>
                            <p:childTnLst>
                              <p:par>
                                <p:cTn id="25" presetID="53" presetClass="entr" presetSubtype="16"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EFE2"/>
        </a:solidFill>
        <a:effectLst/>
      </p:bgPr>
    </p:bg>
    <p:spTree>
      <p:nvGrpSpPr>
        <p:cNvPr id="1" name=""/>
        <p:cNvGrpSpPr/>
        <p:nvPr/>
      </p:nvGrpSpPr>
      <p:grpSpPr/>
      <p:sp>
        <p:nvSpPr>
          <p:cNvPr id="2" name="Rectangle 1"/>
          <p:cNvSpPr/>
          <p:nvPr/>
        </p:nvSpPr>
        <p:spPr>
          <a:xfrm>
            <a:off x="812800" y="762000"/>
            <a:ext cx="10566400" cy="25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200" b="1">
                <a:solidFill>
                  <a:srgbClr val="7A5A00"/>
                </a:solidFill>
                <a:latin typeface="Arial"/>
              </a:rPr>
              <a:t>LE SITE</a:t>
            </a:r>
          </a:p>
        </p:txBody>
      </p:sp>
      <p:sp>
        <p:nvSpPr>
          <p:cNvPr id="3" name="Rectangle 2"/>
          <p:cNvSpPr/>
          <p:nvPr/>
        </p:nvSpPr>
        <p:spPr>
          <a:xfrm>
            <a:off x="812800" y="1066800"/>
            <a:ext cx="10566400" cy="571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lnSpc>
                <a:spcPct val="95000"/>
              </a:lnSpc>
              <a:spcAft>
                <a:spcPts val="0"/>
              </a:spcAft>
            </a:pPr>
            <a:r>
              <a:rPr sz="3600" b="1">
                <a:solidFill>
                  <a:srgbClr val="1A1813"/>
                </a:solidFill>
                <a:latin typeface="Arial"/>
              </a:rPr>
              <a:t>Un site, cinq espaces</a:t>
            </a:r>
          </a:p>
        </p:txBody>
      </p:sp>
      <p:sp>
        <p:nvSpPr>
          <p:cNvPr id="4" name="Rounded Rectangle 3"/>
          <p:cNvSpPr/>
          <p:nvPr/>
        </p:nvSpPr>
        <p:spPr>
          <a:xfrm>
            <a:off x="812800" y="2286000"/>
            <a:ext cx="1981200" cy="1841500"/>
          </a:xfrm>
          <a:prstGeom prst="roundRect">
            <a:avLst>
              <a:gd name="adj" fmla="val 5517"/>
            </a:avLst>
          </a:prstGeom>
          <a:solidFill>
            <a:srgbClr val="FBF8EF"/>
          </a:solidFill>
          <a:ln w="9525">
            <a:solidFill>
              <a:srgbClr val="DCD4BD"/>
            </a:solidFill>
          </a:ln>
          <a:effectLst/>
        </p:spPr>
        <p:style>
          <a:lnRef idx="1">
            <a:schemeClr val="accent1"/>
          </a:lnRef>
          <a:fillRef idx="3">
            <a:schemeClr val="accent1"/>
          </a:fillRef>
          <a:effectRef idx="2">
            <a:schemeClr val="accent1"/>
          </a:effectRef>
          <a:fontRef idx="minor">
            <a:schemeClr val="lt1"/>
          </a:fontRef>
        </p:style>
        <p:txBody>
          <a:bodyPr rtlCol="0" anchor="t" wrap="square" lIns="215900" rIns="215900" tIns="215900" bIns="215900"/>
          <a:lstStyle/>
          <a:p>
            <a:pPr algn="l">
              <a:spcAft>
                <a:spcPts val="600"/>
              </a:spcAft>
            </a:pPr>
            <a:r>
              <a:rPr sz="1600" b="1">
                <a:solidFill>
                  <a:srgbClr val="1A1813"/>
                </a:solidFill>
                <a:latin typeface="Arial"/>
              </a:rPr>
              <a:t>Client</a:t>
            </a:r>
          </a:p>
          <a:p>
            <a:pPr algn="l">
              <a:lnSpc>
                <a:spcPct val="110000"/>
              </a:lnSpc>
              <a:spcAft>
                <a:spcPts val="0"/>
              </a:spcAft>
            </a:pPr>
            <a:r>
              <a:rPr sz="1200" b="0">
                <a:solidFill>
                  <a:srgbClr val="5A5547"/>
                </a:solidFill>
                <a:latin typeface="Arial"/>
              </a:rPr>
              <a:t>Cherche, réserve et suit son dossier en 6 étapes.</a:t>
            </a:r>
          </a:p>
        </p:txBody>
      </p:sp>
      <p:sp>
        <p:nvSpPr>
          <p:cNvPr id="5" name="Rounded Rectangle 4"/>
          <p:cNvSpPr/>
          <p:nvPr/>
        </p:nvSpPr>
        <p:spPr>
          <a:xfrm>
            <a:off x="2946400" y="2286000"/>
            <a:ext cx="1981200" cy="1841500"/>
          </a:xfrm>
          <a:prstGeom prst="roundRect">
            <a:avLst>
              <a:gd name="adj" fmla="val 5517"/>
            </a:avLst>
          </a:prstGeom>
          <a:solidFill>
            <a:srgbClr val="FBF8EF"/>
          </a:solidFill>
          <a:ln w="9525">
            <a:solidFill>
              <a:srgbClr val="DCD4BD"/>
            </a:solidFill>
          </a:ln>
          <a:effectLst/>
        </p:spPr>
        <p:style>
          <a:lnRef idx="1">
            <a:schemeClr val="accent1"/>
          </a:lnRef>
          <a:fillRef idx="3">
            <a:schemeClr val="accent1"/>
          </a:fillRef>
          <a:effectRef idx="2">
            <a:schemeClr val="accent1"/>
          </a:effectRef>
          <a:fontRef idx="minor">
            <a:schemeClr val="lt1"/>
          </a:fontRef>
        </p:style>
        <p:txBody>
          <a:bodyPr rtlCol="0" anchor="t" wrap="square" lIns="215900" rIns="215900" tIns="215900" bIns="215900"/>
          <a:lstStyle/>
          <a:p>
            <a:pPr algn="l">
              <a:spcAft>
                <a:spcPts val="600"/>
              </a:spcAft>
            </a:pPr>
            <a:r>
              <a:rPr sz="1600" b="1">
                <a:solidFill>
                  <a:srgbClr val="1A1813"/>
                </a:solidFill>
                <a:latin typeface="Arial"/>
              </a:rPr>
              <a:t>Propriétaire</a:t>
            </a:r>
          </a:p>
          <a:p>
            <a:pPr algn="l">
              <a:lnSpc>
                <a:spcPct val="110000"/>
              </a:lnSpc>
              <a:spcAft>
                <a:spcPts val="0"/>
              </a:spcAft>
            </a:pPr>
            <a:r>
              <a:rPr sz="1200" b="0">
                <a:solidFill>
                  <a:srgbClr val="5A5547"/>
                </a:solidFill>
                <a:latin typeface="Arial"/>
              </a:rPr>
              <a:t>Confie ses biens, suit calendrier et relevés.</a:t>
            </a:r>
          </a:p>
        </p:txBody>
      </p:sp>
      <p:sp>
        <p:nvSpPr>
          <p:cNvPr id="6" name="Rounded Rectangle 5"/>
          <p:cNvSpPr/>
          <p:nvPr/>
        </p:nvSpPr>
        <p:spPr>
          <a:xfrm>
            <a:off x="5080000" y="2286000"/>
            <a:ext cx="1981200" cy="1841500"/>
          </a:xfrm>
          <a:prstGeom prst="roundRect">
            <a:avLst>
              <a:gd name="adj" fmla="val 5517"/>
            </a:avLst>
          </a:prstGeom>
          <a:solidFill>
            <a:srgbClr val="FBF8EF"/>
          </a:solidFill>
          <a:ln w="9525">
            <a:solidFill>
              <a:srgbClr val="DCD4BD"/>
            </a:solidFill>
          </a:ln>
          <a:effectLst/>
        </p:spPr>
        <p:style>
          <a:lnRef idx="1">
            <a:schemeClr val="accent1"/>
          </a:lnRef>
          <a:fillRef idx="3">
            <a:schemeClr val="accent1"/>
          </a:fillRef>
          <a:effectRef idx="2">
            <a:schemeClr val="accent1"/>
          </a:effectRef>
          <a:fontRef idx="minor">
            <a:schemeClr val="lt1"/>
          </a:fontRef>
        </p:style>
        <p:txBody>
          <a:bodyPr rtlCol="0" anchor="t" wrap="square" lIns="215900" rIns="215900" tIns="215900" bIns="215900"/>
          <a:lstStyle/>
          <a:p>
            <a:pPr algn="l">
              <a:spcAft>
                <a:spcPts val="600"/>
              </a:spcAft>
            </a:pPr>
            <a:r>
              <a:rPr sz="1600" b="1">
                <a:solidFill>
                  <a:srgbClr val="1A1813"/>
                </a:solidFill>
                <a:latin typeface="Arial"/>
              </a:rPr>
              <a:t>Analyste juridique</a:t>
            </a:r>
          </a:p>
          <a:p>
            <a:pPr algn="l">
              <a:lnSpc>
                <a:spcPct val="110000"/>
              </a:lnSpc>
              <a:spcAft>
                <a:spcPts val="0"/>
              </a:spcAft>
            </a:pPr>
            <a:r>
              <a:rPr sz="1200" b="0">
                <a:solidFill>
                  <a:srgbClr val="5A5547"/>
                </a:solidFill>
                <a:latin typeface="Arial"/>
              </a:rPr>
              <a:t>Étudie les dossiers sous 72 h et décide.</a:t>
            </a:r>
          </a:p>
        </p:txBody>
      </p:sp>
      <p:sp>
        <p:nvSpPr>
          <p:cNvPr id="7" name="Rounded Rectangle 6"/>
          <p:cNvSpPr/>
          <p:nvPr/>
        </p:nvSpPr>
        <p:spPr>
          <a:xfrm>
            <a:off x="7213600" y="2286000"/>
            <a:ext cx="1981200" cy="1841500"/>
          </a:xfrm>
          <a:prstGeom prst="roundRect">
            <a:avLst>
              <a:gd name="adj" fmla="val 5517"/>
            </a:avLst>
          </a:prstGeom>
          <a:solidFill>
            <a:srgbClr val="FBF8EF"/>
          </a:solidFill>
          <a:ln w="9525">
            <a:solidFill>
              <a:srgbClr val="DCD4BD"/>
            </a:solidFill>
          </a:ln>
          <a:effectLst/>
        </p:spPr>
        <p:style>
          <a:lnRef idx="1">
            <a:schemeClr val="accent1"/>
          </a:lnRef>
          <a:fillRef idx="3">
            <a:schemeClr val="accent1"/>
          </a:fillRef>
          <a:effectRef idx="2">
            <a:schemeClr val="accent1"/>
          </a:effectRef>
          <a:fontRef idx="minor">
            <a:schemeClr val="lt1"/>
          </a:fontRef>
        </p:style>
        <p:txBody>
          <a:bodyPr rtlCol="0" anchor="t" wrap="square" lIns="215900" rIns="215900" tIns="215900" bIns="215900"/>
          <a:lstStyle/>
          <a:p>
            <a:pPr algn="l">
              <a:spcAft>
                <a:spcPts val="600"/>
              </a:spcAft>
            </a:pPr>
            <a:r>
              <a:rPr sz="1600" b="1">
                <a:solidFill>
                  <a:srgbClr val="1A1813"/>
                </a:solidFill>
                <a:latin typeface="Arial"/>
              </a:rPr>
              <a:t>Prestataire agréé</a:t>
            </a:r>
          </a:p>
          <a:p>
            <a:pPr algn="l">
              <a:lnSpc>
                <a:spcPct val="110000"/>
              </a:lnSpc>
              <a:spcAft>
                <a:spcPts val="0"/>
              </a:spcAft>
            </a:pPr>
            <a:r>
              <a:rPr sz="1200" b="0">
                <a:solidFill>
                  <a:srgbClr val="5A5547"/>
                </a:solidFill>
                <a:latin typeface="Arial"/>
              </a:rPr>
              <a:t>Reçoit urgences et devis, rend son rapport.</a:t>
            </a:r>
          </a:p>
        </p:txBody>
      </p:sp>
      <p:sp>
        <p:nvSpPr>
          <p:cNvPr id="8" name="Rounded Rectangle 7"/>
          <p:cNvSpPr/>
          <p:nvPr/>
        </p:nvSpPr>
        <p:spPr>
          <a:xfrm>
            <a:off x="9347200" y="2286000"/>
            <a:ext cx="1981200" cy="1841500"/>
          </a:xfrm>
          <a:prstGeom prst="roundRect">
            <a:avLst>
              <a:gd name="adj" fmla="val 5517"/>
            </a:avLst>
          </a:prstGeom>
          <a:solidFill>
            <a:srgbClr val="F2B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15900" rIns="215900" tIns="215900" bIns="215900"/>
          <a:lstStyle/>
          <a:p>
            <a:pPr algn="l">
              <a:spcAft>
                <a:spcPts val="600"/>
              </a:spcAft>
            </a:pPr>
            <a:r>
              <a:rPr sz="1600" b="1">
                <a:solidFill>
                  <a:srgbClr val="1A1813"/>
                </a:solidFill>
                <a:latin typeface="Arial"/>
              </a:rPr>
              <a:t>Administrateur</a:t>
            </a:r>
          </a:p>
          <a:p>
            <a:pPr algn="l">
              <a:lnSpc>
                <a:spcPct val="110000"/>
              </a:lnSpc>
              <a:spcAft>
                <a:spcPts val="0"/>
              </a:spcAft>
            </a:pPr>
            <a:r>
              <a:rPr sz="1200" b="0">
                <a:solidFill>
                  <a:srgbClr val="1A1813"/>
                </a:solidFill>
                <a:latin typeface="Arial"/>
              </a:rPr>
              <a:t>Valide les biens et pilote tout le reste.</a:t>
            </a:r>
          </a:p>
        </p:txBody>
      </p:sp>
      <p:sp>
        <p:nvSpPr>
          <p:cNvPr id="9" name="Rectangle 8"/>
          <p:cNvSpPr/>
          <p:nvPr/>
        </p:nvSpPr>
        <p:spPr>
          <a:xfrm>
            <a:off x="812800" y="4572000"/>
            <a:ext cx="10566400" cy="76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600" b="0">
                <a:solidFill>
                  <a:srgbClr val="5A5547"/>
                </a:solidFill>
                <a:latin typeface="Arial"/>
              </a:rPr>
              <a:t>Recherche, visite 360°, simulateur de budget, assistante Awa, français et anglais, thème clair et sombre, version mobile.</a:t>
            </a:r>
          </a:p>
        </p:txBody>
      </p:sp>
      <p:sp>
        <p:nvSpPr>
          <p:cNvPr id="10" name="Rectangle 9"/>
          <p:cNvSpPr/>
          <p:nvPr/>
        </p:nvSpPr>
        <p:spPr>
          <a:xfrm>
            <a:off x="812800" y="6191250"/>
            <a:ext cx="5080000" cy="25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200" b="0">
                <a:solidFill>
                  <a:srgbClr val="5A5547"/>
                </a:solidFill>
                <a:latin typeface="Arial"/>
              </a:rPr>
              <a:t>Immo Bell · Confidentiel</a:t>
            </a:r>
          </a:p>
        </p:txBody>
      </p:sp>
      <p:pic>
        <p:nvPicPr>
          <p:cNvPr id="11" name="Picture 10" descr="logo.png"/>
          <p:cNvPicPr>
            <a:picLocks noChangeAspect="1"/>
          </p:cNvPicPr>
          <p:nvPr/>
        </p:nvPicPr>
        <p:blipFill>
          <a:blip r:embed="rId3"/>
          <a:stretch>
            <a:fillRect/>
          </a:stretch>
        </p:blipFill>
        <p:spPr>
          <a:xfrm>
            <a:off x="10617200" y="6019800"/>
            <a:ext cx="762000" cy="61595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4"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down)">
                                      <p:cBhvr>
                                        <p:cTn id="6" dur="500"/>
                                        <p:tgtEl>
                                          <p:spTgt spid="4"/>
                                        </p:tgtEl>
                                      </p:cBhvr>
                                    </p:animEffect>
                                  </p:childTnLst>
                                </p:cTn>
                              </p:par>
                            </p:childTnLst>
                          </p:cTn>
                        </p:par>
                        <p:par>
                          <p:cTn id="8" fill="hold">
                            <p:stCondLst>
                              <p:cond delay="500"/>
                            </p:stCondLst>
                            <p:childTnLst>
                              <p:par>
                                <p:cTn id="11" presetID="22" presetClass="entr" presetSubtype="4" fill="hold" grpId="0" nodeType="after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childTnLst>
                          </p:cTn>
                        </p:par>
                        <p:par>
                          <p:cTn id="12" fill="hold">
                            <p:stCondLst>
                              <p:cond delay="1000"/>
                            </p:stCondLst>
                            <p:childTnLst>
                              <p:par>
                                <p:cTn id="15" presetID="22" presetClass="entr" presetSubtype="4"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down)">
                                      <p:cBhvr>
                                        <p:cTn id="14" dur="500"/>
                                        <p:tgtEl>
                                          <p:spTgt spid="6"/>
                                        </p:tgtEl>
                                      </p:cBhvr>
                                    </p:animEffect>
                                  </p:childTnLst>
                                </p:cTn>
                              </p:par>
                            </p:childTnLst>
                          </p:cTn>
                        </p:par>
                        <p:par>
                          <p:cTn id="16" fill="hold">
                            <p:stCondLst>
                              <p:cond delay="1500"/>
                            </p:stCondLst>
                            <p:childTnLst>
                              <p:par>
                                <p:cTn id="19" presetID="22" presetClass="entr" presetSubtype="4"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down)">
                                      <p:cBhvr>
                                        <p:cTn id="18" dur="500"/>
                                        <p:tgtEl>
                                          <p:spTgt spid="7"/>
                                        </p:tgtEl>
                                      </p:cBhvr>
                                    </p:animEffect>
                                  </p:childTnLst>
                                </p:cTn>
                              </p:par>
                            </p:childTnLst>
                          </p:cTn>
                        </p:par>
                        <p:par>
                          <p:cTn id="20" fill="hold">
                            <p:stCondLst>
                              <p:cond delay="2000"/>
                            </p:stCondLst>
                            <p:childTnLst>
                              <p:par>
                                <p:cTn id="25" presetID="53" presetClass="entr" presetSubtype="16"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par>
                          <p:cTn id="26" fill="hold">
                            <p:stCondLst>
                              <p:cond delay="2500"/>
                            </p:stCondLst>
                            <p:childTnLst>
                              <p:par>
                                <p:cTn id="29" presetID="10" presetClass="entr" presetSubtype="0"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EFE2"/>
        </a:solidFill>
        <a:effectLst/>
      </p:bgPr>
    </p:bg>
    <p:spTree>
      <p:nvGrpSpPr>
        <p:cNvPr id="1" name=""/>
        <p:cNvGrpSpPr/>
        <p:nvPr/>
      </p:nvGrpSpPr>
      <p:grpSpPr/>
      <p:sp>
        <p:nvSpPr>
          <p:cNvPr id="2" name="Rectangle 1"/>
          <p:cNvSpPr/>
          <p:nvPr/>
        </p:nvSpPr>
        <p:spPr>
          <a:xfrm>
            <a:off x="812800" y="762000"/>
            <a:ext cx="10566400" cy="25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200" b="1">
                <a:solidFill>
                  <a:srgbClr val="7A5A00"/>
                </a:solidFill>
                <a:latin typeface="Arial"/>
              </a:rPr>
              <a:t>LE PARCOURS D’UN DOSSIER</a:t>
            </a:r>
          </a:p>
        </p:txBody>
      </p:sp>
      <p:sp>
        <p:nvSpPr>
          <p:cNvPr id="3" name="Rectangle 2"/>
          <p:cNvSpPr/>
          <p:nvPr/>
        </p:nvSpPr>
        <p:spPr>
          <a:xfrm>
            <a:off x="812800" y="1066800"/>
            <a:ext cx="10566400" cy="571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lnSpc>
                <a:spcPct val="95000"/>
              </a:lnSpc>
              <a:spcAft>
                <a:spcPts val="0"/>
              </a:spcAft>
            </a:pPr>
            <a:r>
              <a:rPr sz="3600" b="1">
                <a:solidFill>
                  <a:srgbClr val="1A1813"/>
                </a:solidFill>
                <a:latin typeface="Arial"/>
              </a:rPr>
              <a:t>De la demande à la remise des clés</a:t>
            </a:r>
          </a:p>
        </p:txBody>
      </p:sp>
      <p:sp>
        <p:nvSpPr>
          <p:cNvPr id="4" name="Rounded Rectangle 3"/>
          <p:cNvSpPr/>
          <p:nvPr/>
        </p:nvSpPr>
        <p:spPr>
          <a:xfrm>
            <a:off x="812800" y="2095500"/>
            <a:ext cx="1638300" cy="1587500"/>
          </a:xfrm>
          <a:prstGeom prst="roundRect">
            <a:avLst>
              <a:gd name="adj" fmla="val 6400"/>
            </a:avLst>
          </a:prstGeom>
          <a:solidFill>
            <a:srgbClr val="FBF8EF"/>
          </a:solidFill>
          <a:ln w="9525">
            <a:solidFill>
              <a:srgbClr val="DCD4BD"/>
            </a:solidFill>
          </a:ln>
          <a:effectLst/>
        </p:spPr>
        <p:style>
          <a:lnRef idx="1">
            <a:schemeClr val="accent1"/>
          </a:lnRef>
          <a:fillRef idx="3">
            <a:schemeClr val="accent1"/>
          </a:fillRef>
          <a:effectRef idx="2">
            <a:schemeClr val="accent1"/>
          </a:effectRef>
          <a:fontRef idx="minor">
            <a:schemeClr val="lt1"/>
          </a:fontRef>
        </p:style>
        <p:txBody>
          <a:bodyPr rtlCol="0" anchor="t" wrap="square" lIns="215900" rIns="215900" tIns="215900" bIns="215900"/>
          <a:lstStyle/>
          <a:p>
            <a:pPr algn="l">
              <a:spcAft>
                <a:spcPts val="500"/>
              </a:spcAft>
            </a:pPr>
            <a:r>
              <a:rPr sz="3600" b="1">
                <a:solidFill>
                  <a:srgbClr val="C28F00"/>
                </a:solidFill>
                <a:latin typeface="Arial"/>
              </a:rPr>
              <a:t>1</a:t>
            </a:r>
          </a:p>
          <a:p>
            <a:pPr algn="l">
              <a:spcAft>
                <a:spcPts val="600"/>
              </a:spcAft>
            </a:pPr>
            <a:r>
              <a:rPr sz="1600" b="1">
                <a:solidFill>
                  <a:srgbClr val="1A1813"/>
                </a:solidFill>
                <a:latin typeface="Arial"/>
              </a:rPr>
              <a:t>Demande reçue</a:t>
            </a:r>
          </a:p>
        </p:txBody>
      </p:sp>
      <p:sp>
        <p:nvSpPr>
          <p:cNvPr id="5" name="Rounded Rectangle 4"/>
          <p:cNvSpPr/>
          <p:nvPr/>
        </p:nvSpPr>
        <p:spPr>
          <a:xfrm>
            <a:off x="2597150" y="2095500"/>
            <a:ext cx="1638300" cy="1587500"/>
          </a:xfrm>
          <a:prstGeom prst="roundRect">
            <a:avLst>
              <a:gd name="adj" fmla="val 6400"/>
            </a:avLst>
          </a:prstGeom>
          <a:solidFill>
            <a:srgbClr val="FBF8EF"/>
          </a:solidFill>
          <a:ln w="9525">
            <a:solidFill>
              <a:srgbClr val="DCD4BD"/>
            </a:solidFill>
          </a:ln>
          <a:effectLst/>
        </p:spPr>
        <p:style>
          <a:lnRef idx="1">
            <a:schemeClr val="accent1"/>
          </a:lnRef>
          <a:fillRef idx="3">
            <a:schemeClr val="accent1"/>
          </a:fillRef>
          <a:effectRef idx="2">
            <a:schemeClr val="accent1"/>
          </a:effectRef>
          <a:fontRef idx="minor">
            <a:schemeClr val="lt1"/>
          </a:fontRef>
        </p:style>
        <p:txBody>
          <a:bodyPr rtlCol="0" anchor="t" wrap="square" lIns="215900" rIns="215900" tIns="215900" bIns="215900"/>
          <a:lstStyle/>
          <a:p>
            <a:pPr algn="l">
              <a:spcAft>
                <a:spcPts val="500"/>
              </a:spcAft>
            </a:pPr>
            <a:r>
              <a:rPr sz="3600" b="1">
                <a:solidFill>
                  <a:srgbClr val="C28F00"/>
                </a:solidFill>
                <a:latin typeface="Arial"/>
              </a:rPr>
              <a:t>2</a:t>
            </a:r>
          </a:p>
          <a:p>
            <a:pPr algn="l">
              <a:spcAft>
                <a:spcPts val="600"/>
              </a:spcAft>
            </a:pPr>
            <a:r>
              <a:rPr sz="1600" b="1">
                <a:solidFill>
                  <a:srgbClr val="1A1813"/>
                </a:solidFill>
                <a:latin typeface="Arial"/>
              </a:rPr>
              <a:t>Dossier complet</a:t>
            </a:r>
          </a:p>
        </p:txBody>
      </p:sp>
      <p:sp>
        <p:nvSpPr>
          <p:cNvPr id="6" name="Rounded Rectangle 5"/>
          <p:cNvSpPr/>
          <p:nvPr/>
        </p:nvSpPr>
        <p:spPr>
          <a:xfrm>
            <a:off x="4381500" y="2095500"/>
            <a:ext cx="1638300" cy="1587500"/>
          </a:xfrm>
          <a:prstGeom prst="roundRect">
            <a:avLst>
              <a:gd name="adj" fmla="val 6400"/>
            </a:avLst>
          </a:prstGeom>
          <a:solidFill>
            <a:srgbClr val="FBF8EF"/>
          </a:solidFill>
          <a:ln w="9525">
            <a:solidFill>
              <a:srgbClr val="DCD4BD"/>
            </a:solidFill>
          </a:ln>
          <a:effectLst/>
        </p:spPr>
        <p:style>
          <a:lnRef idx="1">
            <a:schemeClr val="accent1"/>
          </a:lnRef>
          <a:fillRef idx="3">
            <a:schemeClr val="accent1"/>
          </a:fillRef>
          <a:effectRef idx="2">
            <a:schemeClr val="accent1"/>
          </a:effectRef>
          <a:fontRef idx="minor">
            <a:schemeClr val="lt1"/>
          </a:fontRef>
        </p:style>
        <p:txBody>
          <a:bodyPr rtlCol="0" anchor="t" wrap="square" lIns="215900" rIns="215900" tIns="215900" bIns="215900"/>
          <a:lstStyle/>
          <a:p>
            <a:pPr algn="l">
              <a:spcAft>
                <a:spcPts val="500"/>
              </a:spcAft>
            </a:pPr>
            <a:r>
              <a:rPr sz="3600" b="1">
                <a:solidFill>
                  <a:srgbClr val="C28F00"/>
                </a:solidFill>
                <a:latin typeface="Arial"/>
              </a:rPr>
              <a:t>3</a:t>
            </a:r>
          </a:p>
          <a:p>
            <a:pPr algn="l">
              <a:spcAft>
                <a:spcPts val="600"/>
              </a:spcAft>
            </a:pPr>
            <a:r>
              <a:rPr sz="1600" b="1">
                <a:solidFill>
                  <a:srgbClr val="1A1813"/>
                </a:solidFill>
                <a:latin typeface="Arial"/>
              </a:rPr>
              <a:t>Étude juridique</a:t>
            </a:r>
          </a:p>
        </p:txBody>
      </p:sp>
      <p:sp>
        <p:nvSpPr>
          <p:cNvPr id="7" name="Rounded Rectangle 6"/>
          <p:cNvSpPr/>
          <p:nvPr/>
        </p:nvSpPr>
        <p:spPr>
          <a:xfrm>
            <a:off x="6165850" y="2095500"/>
            <a:ext cx="1638300" cy="1587500"/>
          </a:xfrm>
          <a:prstGeom prst="roundRect">
            <a:avLst>
              <a:gd name="adj" fmla="val 6400"/>
            </a:avLst>
          </a:prstGeom>
          <a:solidFill>
            <a:srgbClr val="FBF8EF"/>
          </a:solidFill>
          <a:ln w="9525">
            <a:solidFill>
              <a:srgbClr val="DCD4BD"/>
            </a:solidFill>
          </a:ln>
          <a:effectLst/>
        </p:spPr>
        <p:style>
          <a:lnRef idx="1">
            <a:schemeClr val="accent1"/>
          </a:lnRef>
          <a:fillRef idx="3">
            <a:schemeClr val="accent1"/>
          </a:fillRef>
          <a:effectRef idx="2">
            <a:schemeClr val="accent1"/>
          </a:effectRef>
          <a:fontRef idx="minor">
            <a:schemeClr val="lt1"/>
          </a:fontRef>
        </p:style>
        <p:txBody>
          <a:bodyPr rtlCol="0" anchor="t" wrap="square" lIns="215900" rIns="215900" tIns="215900" bIns="215900"/>
          <a:lstStyle/>
          <a:p>
            <a:pPr algn="l">
              <a:spcAft>
                <a:spcPts val="500"/>
              </a:spcAft>
            </a:pPr>
            <a:r>
              <a:rPr sz="3600" b="1">
                <a:solidFill>
                  <a:srgbClr val="C28F00"/>
                </a:solidFill>
                <a:latin typeface="Arial"/>
              </a:rPr>
              <a:t>4</a:t>
            </a:r>
          </a:p>
          <a:p>
            <a:pPr algn="l">
              <a:spcAft>
                <a:spcPts val="600"/>
              </a:spcAft>
            </a:pPr>
            <a:r>
              <a:rPr sz="1600" b="1">
                <a:solidFill>
                  <a:srgbClr val="1A1813"/>
                </a:solidFill>
                <a:latin typeface="Arial"/>
              </a:rPr>
              <a:t>Validée</a:t>
            </a:r>
          </a:p>
        </p:txBody>
      </p:sp>
      <p:sp>
        <p:nvSpPr>
          <p:cNvPr id="8" name="Rounded Rectangle 7"/>
          <p:cNvSpPr/>
          <p:nvPr/>
        </p:nvSpPr>
        <p:spPr>
          <a:xfrm>
            <a:off x="7950200" y="2095500"/>
            <a:ext cx="1638300" cy="1587500"/>
          </a:xfrm>
          <a:prstGeom prst="roundRect">
            <a:avLst>
              <a:gd name="adj" fmla="val 6400"/>
            </a:avLst>
          </a:prstGeom>
          <a:solidFill>
            <a:srgbClr val="FBF8EF"/>
          </a:solidFill>
          <a:ln w="9525">
            <a:solidFill>
              <a:srgbClr val="DCD4BD"/>
            </a:solidFill>
          </a:ln>
          <a:effectLst/>
        </p:spPr>
        <p:style>
          <a:lnRef idx="1">
            <a:schemeClr val="accent1"/>
          </a:lnRef>
          <a:fillRef idx="3">
            <a:schemeClr val="accent1"/>
          </a:fillRef>
          <a:effectRef idx="2">
            <a:schemeClr val="accent1"/>
          </a:effectRef>
          <a:fontRef idx="minor">
            <a:schemeClr val="lt1"/>
          </a:fontRef>
        </p:style>
        <p:txBody>
          <a:bodyPr rtlCol="0" anchor="t" wrap="square" lIns="215900" rIns="215900" tIns="215900" bIns="215900"/>
          <a:lstStyle/>
          <a:p>
            <a:pPr algn="l">
              <a:spcAft>
                <a:spcPts val="500"/>
              </a:spcAft>
            </a:pPr>
            <a:r>
              <a:rPr sz="3600" b="1">
                <a:solidFill>
                  <a:srgbClr val="C28F00"/>
                </a:solidFill>
                <a:latin typeface="Arial"/>
              </a:rPr>
              <a:t>5</a:t>
            </a:r>
          </a:p>
          <a:p>
            <a:pPr algn="l">
              <a:spcAft>
                <a:spcPts val="600"/>
              </a:spcAft>
            </a:pPr>
            <a:r>
              <a:rPr sz="1600" b="1">
                <a:solidFill>
                  <a:srgbClr val="1A1813"/>
                </a:solidFill>
                <a:latin typeface="Arial"/>
              </a:rPr>
              <a:t>État des lieux</a:t>
            </a:r>
          </a:p>
        </p:txBody>
      </p:sp>
      <p:sp>
        <p:nvSpPr>
          <p:cNvPr id="9" name="Rounded Rectangle 8"/>
          <p:cNvSpPr/>
          <p:nvPr/>
        </p:nvSpPr>
        <p:spPr>
          <a:xfrm>
            <a:off x="9734550" y="2095500"/>
            <a:ext cx="1638300" cy="1587500"/>
          </a:xfrm>
          <a:prstGeom prst="roundRect">
            <a:avLst>
              <a:gd name="adj" fmla="val 6400"/>
            </a:avLst>
          </a:prstGeom>
          <a:solidFill>
            <a:srgbClr val="F2B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15900" rIns="215900" tIns="215900" bIns="215900"/>
          <a:lstStyle/>
          <a:p>
            <a:pPr algn="l">
              <a:spcAft>
                <a:spcPts val="500"/>
              </a:spcAft>
            </a:pPr>
            <a:r>
              <a:rPr sz="3600" b="1">
                <a:solidFill>
                  <a:srgbClr val="1A1813"/>
                </a:solidFill>
                <a:latin typeface="Arial"/>
              </a:rPr>
              <a:t>6</a:t>
            </a:r>
          </a:p>
          <a:p>
            <a:pPr algn="l">
              <a:spcAft>
                <a:spcPts val="600"/>
              </a:spcAft>
            </a:pPr>
            <a:r>
              <a:rPr sz="1600" b="1">
                <a:solidFill>
                  <a:srgbClr val="1A1813"/>
                </a:solidFill>
                <a:latin typeface="Arial"/>
              </a:rPr>
              <a:t>Remise des clés</a:t>
            </a:r>
          </a:p>
        </p:txBody>
      </p:sp>
      <p:sp>
        <p:nvSpPr>
          <p:cNvPr id="10" name="Rectangle 9"/>
          <p:cNvSpPr/>
          <p:nvPr/>
        </p:nvSpPr>
        <p:spPr>
          <a:xfrm>
            <a:off x="812800" y="4191000"/>
            <a:ext cx="3302000" cy="10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lnSpc>
                <a:spcPct val="105000"/>
              </a:lnSpc>
              <a:spcAft>
                <a:spcPts val="0"/>
              </a:spcAft>
            </a:pPr>
            <a:r>
              <a:rPr sz="1600" b="1">
                <a:solidFill>
                  <a:srgbClr val="1A1813"/>
                </a:solidFill>
                <a:latin typeface="Arial"/>
              </a:rPr>
              <a:t>72 h</a:t>
            </a:r>
            <a:r>
              <a:rPr sz="1600" b="0">
                <a:solidFill>
                  <a:srgbClr val="1A1813"/>
                </a:solidFill>
                <a:latin typeface="Arial"/>
              </a:rPr>
              <a:t> pour décider, avec un compte à rebours visible.</a:t>
            </a:r>
          </a:p>
        </p:txBody>
      </p:sp>
      <p:sp>
        <p:nvSpPr>
          <p:cNvPr id="11" name="Rectangle 10"/>
          <p:cNvSpPr/>
          <p:nvPr/>
        </p:nvSpPr>
        <p:spPr>
          <a:xfrm>
            <a:off x="4419600" y="4191000"/>
            <a:ext cx="3302000" cy="10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lnSpc>
                <a:spcPct val="105000"/>
              </a:lnSpc>
              <a:spcAft>
                <a:spcPts val="0"/>
              </a:spcAft>
            </a:pPr>
            <a:r>
              <a:rPr sz="1600" b="1">
                <a:solidFill>
                  <a:srgbClr val="1A1813"/>
                </a:solidFill>
                <a:latin typeface="Arial"/>
              </a:rPr>
              <a:t>Motif obligatoire</a:t>
            </a:r>
            <a:r>
              <a:rPr sz="1600" b="0">
                <a:solidFill>
                  <a:srgbClr val="1A1813"/>
                </a:solidFill>
                <a:latin typeface="Arial"/>
              </a:rPr>
              <a:t> en cas de rejet.</a:t>
            </a:r>
          </a:p>
        </p:txBody>
      </p:sp>
      <p:sp>
        <p:nvSpPr>
          <p:cNvPr id="12" name="Rectangle 11"/>
          <p:cNvSpPr/>
          <p:nvPr/>
        </p:nvSpPr>
        <p:spPr>
          <a:xfrm>
            <a:off x="8026400" y="4191000"/>
            <a:ext cx="3302000" cy="1016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lnSpc>
                <a:spcPct val="105000"/>
              </a:lnSpc>
              <a:spcAft>
                <a:spcPts val="0"/>
              </a:spcAft>
            </a:pPr>
            <a:r>
              <a:rPr sz="1600" b="1">
                <a:solidFill>
                  <a:srgbClr val="1A1813"/>
                </a:solidFill>
                <a:latin typeface="Arial"/>
              </a:rPr>
              <a:t>Client prévenu</a:t>
            </a:r>
            <a:r>
              <a:rPr sz="1600" b="0">
                <a:solidFill>
                  <a:srgbClr val="1A1813"/>
                </a:solidFill>
                <a:latin typeface="Arial"/>
              </a:rPr>
              <a:t> à chaque étape.</a:t>
            </a:r>
          </a:p>
        </p:txBody>
      </p:sp>
      <p:sp>
        <p:nvSpPr>
          <p:cNvPr id="13" name="Rectangle 12"/>
          <p:cNvSpPr/>
          <p:nvPr/>
        </p:nvSpPr>
        <p:spPr>
          <a:xfrm>
            <a:off x="812800" y="6191250"/>
            <a:ext cx="5080000" cy="25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200" b="0">
                <a:solidFill>
                  <a:srgbClr val="5A5547"/>
                </a:solidFill>
                <a:latin typeface="Arial"/>
              </a:rPr>
              <a:t>Immo Bell · Confidentiel</a:t>
            </a:r>
          </a:p>
        </p:txBody>
      </p:sp>
      <p:pic>
        <p:nvPicPr>
          <p:cNvPr id="14" name="Picture 13" descr="logo.png"/>
          <p:cNvPicPr>
            <a:picLocks noChangeAspect="1"/>
          </p:cNvPicPr>
          <p:nvPr/>
        </p:nvPicPr>
        <p:blipFill>
          <a:blip r:embed="rId3"/>
          <a:stretch>
            <a:fillRect/>
          </a:stretch>
        </p:blipFill>
        <p:spPr>
          <a:xfrm>
            <a:off x="10617200" y="6019800"/>
            <a:ext cx="762000" cy="61595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4"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down)">
                                      <p:cBhvr>
                                        <p:cTn id="6" dur="500"/>
                                        <p:tgtEl>
                                          <p:spTgt spid="4"/>
                                        </p:tgtEl>
                                      </p:cBhvr>
                                    </p:animEffect>
                                  </p:childTnLst>
                                </p:cTn>
                              </p:par>
                            </p:childTnLst>
                          </p:cTn>
                        </p:par>
                        <p:par>
                          <p:cTn id="8" fill="hold">
                            <p:stCondLst>
                              <p:cond delay="500"/>
                            </p:stCondLst>
                            <p:childTnLst>
                              <p:par>
                                <p:cTn id="11" presetID="22" presetClass="entr" presetSubtype="4" fill="hold" grpId="0" nodeType="after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childTnLst>
                          </p:cTn>
                        </p:par>
                        <p:par>
                          <p:cTn id="12" fill="hold">
                            <p:stCondLst>
                              <p:cond delay="1000"/>
                            </p:stCondLst>
                            <p:childTnLst>
                              <p:par>
                                <p:cTn id="15" presetID="22" presetClass="entr" presetSubtype="4"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down)">
                                      <p:cBhvr>
                                        <p:cTn id="14" dur="500"/>
                                        <p:tgtEl>
                                          <p:spTgt spid="6"/>
                                        </p:tgtEl>
                                      </p:cBhvr>
                                    </p:animEffect>
                                  </p:childTnLst>
                                </p:cTn>
                              </p:par>
                            </p:childTnLst>
                          </p:cTn>
                        </p:par>
                        <p:par>
                          <p:cTn id="16" fill="hold">
                            <p:stCondLst>
                              <p:cond delay="1500"/>
                            </p:stCondLst>
                            <p:childTnLst>
                              <p:par>
                                <p:cTn id="19" presetID="22" presetClass="entr" presetSubtype="4"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down)">
                                      <p:cBhvr>
                                        <p:cTn id="18" dur="500"/>
                                        <p:tgtEl>
                                          <p:spTgt spid="7"/>
                                        </p:tgtEl>
                                      </p:cBhvr>
                                    </p:animEffect>
                                  </p:childTnLst>
                                </p:cTn>
                              </p:par>
                            </p:childTnLst>
                          </p:cTn>
                        </p:par>
                        <p:par>
                          <p:cTn id="20" fill="hold">
                            <p:stCondLst>
                              <p:cond delay="2000"/>
                            </p:stCondLst>
                            <p:childTnLst>
                              <p:par>
                                <p:cTn id="23" presetID="22" presetClass="entr" presetSubtype="4"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par>
                          <p:cTn id="24" fill="hold">
                            <p:stCondLst>
                              <p:cond delay="2500"/>
                            </p:stCondLst>
                            <p:childTnLst>
                              <p:par>
                                <p:cTn id="29" presetID="53" presetClass="entr" presetSubtype="16" fill="hold" grpId="0" nodeType="after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p:cTn id="26" dur="500" fill="hold"/>
                                        <p:tgtEl>
                                          <p:spTgt spid="9"/>
                                        </p:tgtEl>
                                        <p:attrNameLst>
                                          <p:attrName>ppt_w</p:attrName>
                                        </p:attrNameLst>
                                      </p:cBhvr>
                                      <p:tavLst>
                                        <p:tav tm="0">
                                          <p:val>
                                            <p:fltVal val="0"/>
                                          </p:val>
                                        </p:tav>
                                        <p:tav tm="100000">
                                          <p:val>
                                            <p:strVal val="#ppt_w"/>
                                          </p:val>
                                        </p:tav>
                                      </p:tavLst>
                                    </p:anim>
                                    <p:anim calcmode="lin" valueType="num">
                                      <p:cBhvr>
                                        <p:cTn id="27" dur="500" fill="hold"/>
                                        <p:tgtEl>
                                          <p:spTgt spid="9"/>
                                        </p:tgtEl>
                                        <p:attrNameLst>
                                          <p:attrName>ppt_h</p:attrName>
                                        </p:attrNameLst>
                                      </p:cBhvr>
                                      <p:tavLst>
                                        <p:tav tm="0">
                                          <p:val>
                                            <p:fltVal val="0"/>
                                          </p:val>
                                        </p:tav>
                                        <p:tav tm="100000">
                                          <p:val>
                                            <p:strVal val="#ppt_h"/>
                                          </p:val>
                                        </p:tav>
                                      </p:tavLst>
                                    </p:anim>
                                    <p:animEffect transition="in" filter="fade">
                                      <p:cBhvr>
                                        <p:cTn id="28" dur="500"/>
                                        <p:tgtEl>
                                          <p:spTgt spid="9"/>
                                        </p:tgtEl>
                                      </p:cBhvr>
                                    </p:animEffect>
                                  </p:childTnLst>
                                </p:cTn>
                              </p:par>
                            </p:childTnLst>
                          </p:cTn>
                        </p:par>
                        <p:par>
                          <p:cTn id="30" fill="hold">
                            <p:stCondLst>
                              <p:cond delay="3000"/>
                            </p:stCondLst>
                            <p:childTnLst>
                              <p:par>
                                <p:cTn id="33" presetID="10" presetClass="entr" presetSubtype="0" fill="hold" grpId="0"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par>
                          <p:cTn id="34" fill="hold">
                            <p:stCondLst>
                              <p:cond delay="3500"/>
                            </p:stCondLst>
                            <p:childTnLst>
                              <p:par>
                                <p:cTn id="37" presetID="10" presetClass="entr" presetSubtype="0" fill="hold" grpId="0" nodeType="after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childTnLst>
                          </p:cTn>
                        </p:par>
                        <p:par>
                          <p:cTn id="38" fill="hold">
                            <p:stCondLst>
                              <p:cond delay="4000"/>
                            </p:stCondLst>
                            <p:childTnLst>
                              <p:par>
                                <p:cTn id="41" presetID="10" presetClass="entr" presetSubtype="0" fill="hold" grpId="0" nodeType="after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E0B"/>
        </a:solidFill>
        <a:effectLst/>
      </p:bgPr>
    </p:bg>
    <p:spTree>
      <p:nvGrpSpPr>
        <p:cNvPr id="1" name=""/>
        <p:cNvGrpSpPr/>
        <p:nvPr/>
      </p:nvGrpSpPr>
      <p:grpSpPr/>
      <p:sp>
        <p:nvSpPr>
          <p:cNvPr id="2" name="Rectangle 1"/>
          <p:cNvSpPr/>
          <p:nvPr/>
        </p:nvSpPr>
        <p:spPr>
          <a:xfrm>
            <a:off x="812800" y="762000"/>
            <a:ext cx="10566400" cy="25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200" b="1">
                <a:solidFill>
                  <a:srgbClr val="F2B000"/>
                </a:solidFill>
                <a:latin typeface="Arial"/>
              </a:rPr>
              <a:t>LA SÉCURITÉ</a:t>
            </a:r>
          </a:p>
        </p:txBody>
      </p:sp>
      <p:sp>
        <p:nvSpPr>
          <p:cNvPr id="3" name="Rectangle 2"/>
          <p:cNvSpPr/>
          <p:nvPr/>
        </p:nvSpPr>
        <p:spPr>
          <a:xfrm>
            <a:off x="812800" y="1066800"/>
            <a:ext cx="10566400" cy="1079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lnSpc>
                <a:spcPct val="95000"/>
              </a:lnSpc>
              <a:spcAft>
                <a:spcPts val="0"/>
              </a:spcAft>
            </a:pPr>
            <a:r>
              <a:rPr sz="3600" b="1">
                <a:solidFill>
                  <a:srgbClr val="F4EFE2"/>
                </a:solidFill>
                <a:latin typeface="Arial"/>
              </a:rPr>
              <a:t>Les droits sont contrôlés par le serveur</a:t>
            </a:r>
          </a:p>
        </p:txBody>
      </p:sp>
      <p:sp>
        <p:nvSpPr>
          <p:cNvPr id="4" name="Rectangle 3"/>
          <p:cNvSpPr/>
          <p:nvPr/>
        </p:nvSpPr>
        <p:spPr>
          <a:xfrm>
            <a:off x="812800" y="2755900"/>
            <a:ext cx="101600" cy="101600"/>
          </a:xfrm>
          <a:prstGeom prst="rect">
            <a:avLst/>
          </a:prstGeom>
          <a:solidFill>
            <a:srgbClr val="F2B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5" name="Rectangle 4"/>
          <p:cNvSpPr/>
          <p:nvPr/>
        </p:nvSpPr>
        <p:spPr>
          <a:xfrm>
            <a:off x="1117600" y="2603500"/>
            <a:ext cx="10160000" cy="381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800" b="0">
                <a:solidFill>
                  <a:srgbClr val="F4EFE2"/>
                </a:solidFill>
                <a:latin typeface="Arial"/>
              </a:rPr>
              <a:t>Un client ne voit que ses propres dossiers</a:t>
            </a:r>
          </a:p>
        </p:txBody>
      </p:sp>
      <p:sp>
        <p:nvSpPr>
          <p:cNvPr id="6" name="Rectangle 5"/>
          <p:cNvSpPr/>
          <p:nvPr/>
        </p:nvSpPr>
        <p:spPr>
          <a:xfrm>
            <a:off x="812800" y="3263900"/>
            <a:ext cx="101600" cy="101600"/>
          </a:xfrm>
          <a:prstGeom prst="rect">
            <a:avLst/>
          </a:prstGeom>
          <a:solidFill>
            <a:srgbClr val="F2B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7" name="Rectangle 6"/>
          <p:cNvSpPr/>
          <p:nvPr/>
        </p:nvSpPr>
        <p:spPr>
          <a:xfrm>
            <a:off x="1117600" y="3111500"/>
            <a:ext cx="10160000" cy="381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800" b="0">
                <a:solidFill>
                  <a:srgbClr val="F4EFE2"/>
                </a:solidFill>
                <a:latin typeface="Arial"/>
              </a:rPr>
              <a:t>Un propriétaire ne valide pas son propre bien</a:t>
            </a:r>
          </a:p>
        </p:txBody>
      </p:sp>
      <p:sp>
        <p:nvSpPr>
          <p:cNvPr id="8" name="Rectangle 7"/>
          <p:cNvSpPr/>
          <p:nvPr/>
        </p:nvSpPr>
        <p:spPr>
          <a:xfrm>
            <a:off x="812800" y="3771900"/>
            <a:ext cx="101600" cy="101600"/>
          </a:xfrm>
          <a:prstGeom prst="rect">
            <a:avLst/>
          </a:prstGeom>
          <a:solidFill>
            <a:srgbClr val="F2B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9" name="Rectangle 8"/>
          <p:cNvSpPr/>
          <p:nvPr/>
        </p:nvSpPr>
        <p:spPr>
          <a:xfrm>
            <a:off x="1117600" y="3619500"/>
            <a:ext cx="10160000" cy="381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800" b="0">
                <a:solidFill>
                  <a:srgbClr val="F4EFE2"/>
                </a:solidFill>
                <a:latin typeface="Arial"/>
              </a:rPr>
              <a:t>Un prestataire ne voit que ses interventions</a:t>
            </a:r>
          </a:p>
        </p:txBody>
      </p:sp>
      <p:sp>
        <p:nvSpPr>
          <p:cNvPr id="10" name="Rectangle 9"/>
          <p:cNvSpPr/>
          <p:nvPr/>
        </p:nvSpPr>
        <p:spPr>
          <a:xfrm>
            <a:off x="812800" y="4279900"/>
            <a:ext cx="101600" cy="101600"/>
          </a:xfrm>
          <a:prstGeom prst="rect">
            <a:avLst/>
          </a:prstGeom>
          <a:solidFill>
            <a:srgbClr val="F2B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1" name="Rectangle 10"/>
          <p:cNvSpPr/>
          <p:nvPr/>
        </p:nvSpPr>
        <p:spPr>
          <a:xfrm>
            <a:off x="1117600" y="4127500"/>
            <a:ext cx="10160000" cy="381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800" b="0">
                <a:solidFill>
                  <a:srgbClr val="F4EFE2"/>
                </a:solidFill>
                <a:latin typeface="Arial"/>
              </a:rPr>
              <a:t>Seuls l’analyste juridique et l’administrateur décident</a:t>
            </a:r>
          </a:p>
        </p:txBody>
      </p:sp>
      <p:sp>
        <p:nvSpPr>
          <p:cNvPr id="12" name="Rectangle 11"/>
          <p:cNvSpPr/>
          <p:nvPr/>
        </p:nvSpPr>
        <p:spPr>
          <a:xfrm>
            <a:off x="812800" y="4787900"/>
            <a:ext cx="101600" cy="101600"/>
          </a:xfrm>
          <a:prstGeom prst="rect">
            <a:avLst/>
          </a:prstGeom>
          <a:solidFill>
            <a:srgbClr val="F2B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13" name="Rectangle 12"/>
          <p:cNvSpPr/>
          <p:nvPr/>
        </p:nvSpPr>
        <p:spPr>
          <a:xfrm>
            <a:off x="1117600" y="4635500"/>
            <a:ext cx="10160000" cy="381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800" b="0">
                <a:solidFill>
                  <a:srgbClr val="F4EFE2"/>
                </a:solidFill>
                <a:latin typeface="Arial"/>
              </a:rPr>
              <a:t>80 tests automatiques sur l’API</a:t>
            </a:r>
          </a:p>
        </p:txBody>
      </p:sp>
      <p:sp>
        <p:nvSpPr>
          <p:cNvPr id="14" name="Rectangle 13"/>
          <p:cNvSpPr/>
          <p:nvPr/>
        </p:nvSpPr>
        <p:spPr>
          <a:xfrm>
            <a:off x="812800" y="5270500"/>
            <a:ext cx="10566400" cy="635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400" b="0">
                <a:solidFill>
                  <a:srgbClr val="BDB6A3"/>
                </a:solidFill>
                <a:latin typeface="Arial"/>
              </a:rPr>
              <a:t>À faire avant l’ouverture au public : audit de sécurité indépendant et double authentification des administrateurs.</a:t>
            </a:r>
          </a:p>
        </p:txBody>
      </p:sp>
      <p:sp>
        <p:nvSpPr>
          <p:cNvPr id="15" name="Rectangle 14"/>
          <p:cNvSpPr/>
          <p:nvPr/>
        </p:nvSpPr>
        <p:spPr>
          <a:xfrm>
            <a:off x="812800" y="6191250"/>
            <a:ext cx="5080000" cy="25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200" b="0">
                <a:solidFill>
                  <a:srgbClr val="BDB6A3"/>
                </a:solidFill>
                <a:latin typeface="Arial"/>
              </a:rPr>
              <a:t>Immo Bell · Confidentiel</a:t>
            </a:r>
          </a:p>
        </p:txBody>
      </p:sp>
      <p:pic>
        <p:nvPicPr>
          <p:cNvPr id="16" name="Picture 15" descr="logo-light.png"/>
          <p:cNvPicPr>
            <a:picLocks noChangeAspect="1"/>
          </p:cNvPicPr>
          <p:nvPr/>
        </p:nvPicPr>
        <p:blipFill>
          <a:blip r:embed="rId3"/>
          <a:stretch>
            <a:fillRect/>
          </a:stretch>
        </p:blipFill>
        <p:spPr>
          <a:xfrm>
            <a:off x="10617200" y="6019800"/>
            <a:ext cx="762000" cy="6159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4"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down)">
                                      <p:cBhvr>
                                        <p:cTn id="6" dur="500"/>
                                        <p:tgtEl>
                                          <p:spTgt spid="4"/>
                                        </p:tgtEl>
                                      </p:cBhvr>
                                    </p:animEffect>
                                  </p:childTnLst>
                                </p:cTn>
                              </p:par>
                              <p:par>
                                <p:cTn id="10" presetID="22" presetClass="entr" presetSubtype="4"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wipe(down)">
                                      <p:cBhvr>
                                        <p:cTn id="9" dur="500"/>
                                        <p:tgtEl>
                                          <p:spTgt spid="5"/>
                                        </p:tgtEl>
                                      </p:cBhvr>
                                    </p:animEffect>
                                  </p:childTnLst>
                                </p:cTn>
                              </p:par>
                            </p:childTnLst>
                          </p:cTn>
                        </p:par>
                        <p:par>
                          <p:cTn id="11" fill="hold">
                            <p:stCondLst>
                              <p:cond delay="500"/>
                            </p:stCondLst>
                            <p:childTnLst>
                              <p:par>
                                <p:cTn id="14" presetID="22" presetClass="entr" presetSubtype="4"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par>
                                <p:cTn id="17" presetID="22" presetClass="entr" presetSubtype="4"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down)">
                                      <p:cBhvr>
                                        <p:cTn id="16" dur="500"/>
                                        <p:tgtEl>
                                          <p:spTgt spid="7"/>
                                        </p:tgtEl>
                                      </p:cBhvr>
                                    </p:animEffect>
                                  </p:childTnLst>
                                </p:cTn>
                              </p:par>
                            </p:childTnLst>
                          </p:cTn>
                        </p:par>
                        <p:par>
                          <p:cTn id="18" fill="hold">
                            <p:stCondLst>
                              <p:cond delay="1000"/>
                            </p:stCondLst>
                            <p:childTnLst>
                              <p:par>
                                <p:cTn id="21" presetID="22" presetClass="entr" presetSubtype="4"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down)">
                                      <p:cBhvr>
                                        <p:cTn id="20" dur="500"/>
                                        <p:tgtEl>
                                          <p:spTgt spid="8"/>
                                        </p:tgtEl>
                                      </p:cBhvr>
                                    </p:animEffect>
                                  </p:childTnLst>
                                </p:cTn>
                              </p:par>
                              <p:par>
                                <p:cTn id="24" presetID="22" presetClass="entr" presetSubtype="4"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down)">
                                      <p:cBhvr>
                                        <p:cTn id="23" dur="500"/>
                                        <p:tgtEl>
                                          <p:spTgt spid="9"/>
                                        </p:tgtEl>
                                      </p:cBhvr>
                                    </p:animEffect>
                                  </p:childTnLst>
                                </p:cTn>
                              </p:par>
                            </p:childTnLst>
                          </p:cTn>
                        </p:par>
                        <p:par>
                          <p:cTn id="25" fill="hold">
                            <p:stCondLst>
                              <p:cond delay="1500"/>
                            </p:stCondLst>
                            <p:childTnLst>
                              <p:par>
                                <p:cTn id="28" presetID="22" presetClass="entr" presetSubtype="4"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par>
                                <p:cTn id="31" presetID="22" presetClass="entr" presetSubtype="4"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down)">
                                      <p:cBhvr>
                                        <p:cTn id="30" dur="500"/>
                                        <p:tgtEl>
                                          <p:spTgt spid="11"/>
                                        </p:tgtEl>
                                      </p:cBhvr>
                                    </p:animEffect>
                                  </p:childTnLst>
                                </p:cTn>
                              </p:par>
                            </p:childTnLst>
                          </p:cTn>
                        </p:par>
                        <p:par>
                          <p:cTn id="32" fill="hold">
                            <p:stCondLst>
                              <p:cond delay="2000"/>
                            </p:stCondLst>
                            <p:childTnLst>
                              <p:par>
                                <p:cTn id="35" presetID="22" presetClass="entr" presetSubtype="4" fill="hold" grpId="0"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wipe(down)">
                                      <p:cBhvr>
                                        <p:cTn id="34" dur="500"/>
                                        <p:tgtEl>
                                          <p:spTgt spid="12"/>
                                        </p:tgtEl>
                                      </p:cBhvr>
                                    </p:animEffect>
                                  </p:childTnLst>
                                </p:cTn>
                              </p:par>
                              <p:par>
                                <p:cTn id="38" presetID="22" presetClass="entr" presetSubtype="4"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down)">
                                      <p:cBhvr>
                                        <p:cTn id="37" dur="500"/>
                                        <p:tgtEl>
                                          <p:spTgt spid="13"/>
                                        </p:tgtEl>
                                      </p:cBhvr>
                                    </p:animEffect>
                                  </p:childTnLst>
                                </p:cTn>
                              </p:par>
                            </p:childTnLst>
                          </p:cTn>
                        </p:par>
                        <p:par>
                          <p:cTn id="39" fill="hold">
                            <p:stCondLst>
                              <p:cond delay="2500"/>
                            </p:stCondLst>
                            <p:childTnLst>
                              <p:par>
                                <p:cTn id="42" presetID="10" presetClass="entr" presetSubtype="0" fill="hold" grpId="0"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EFE2"/>
        </a:solidFill>
        <a:effectLst/>
      </p:bgPr>
    </p:bg>
    <p:spTree>
      <p:nvGrpSpPr>
        <p:cNvPr id="1" name=""/>
        <p:cNvGrpSpPr/>
        <p:nvPr/>
      </p:nvGrpSpPr>
      <p:grpSpPr/>
      <p:sp>
        <p:nvSpPr>
          <p:cNvPr id="2" name="Rectangle 1"/>
          <p:cNvSpPr/>
          <p:nvPr/>
        </p:nvSpPr>
        <p:spPr>
          <a:xfrm>
            <a:off x="812800" y="762000"/>
            <a:ext cx="10566400" cy="25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200" b="1">
                <a:solidFill>
                  <a:srgbClr val="7A5A00"/>
                </a:solidFill>
                <a:latin typeface="Arial"/>
              </a:rPr>
              <a:t>LE MODÈLE ÉCONOMIQUE</a:t>
            </a:r>
          </a:p>
        </p:txBody>
      </p:sp>
      <p:sp>
        <p:nvSpPr>
          <p:cNvPr id="3" name="Rectangle 2"/>
          <p:cNvSpPr/>
          <p:nvPr/>
        </p:nvSpPr>
        <p:spPr>
          <a:xfrm>
            <a:off x="812800" y="1066800"/>
            <a:ext cx="10566400" cy="571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lnSpc>
                <a:spcPct val="95000"/>
              </a:lnSpc>
              <a:spcAft>
                <a:spcPts val="0"/>
              </a:spcAft>
            </a:pPr>
            <a:r>
              <a:rPr sz="3600" b="1">
                <a:solidFill>
                  <a:srgbClr val="1A1813"/>
                </a:solidFill>
                <a:latin typeface="Arial"/>
              </a:rPr>
              <a:t>Une commission sur chaque loyer géré</a:t>
            </a:r>
          </a:p>
        </p:txBody>
      </p:sp>
      <p:graphicFrame>
        <p:nvGraphicFramePr>
          <p:cNvPr id="4" name="Table 3"/>
          <p:cNvGraphicFramePr>
            <a:graphicFrameLocks noGrp="1"/>
          </p:cNvGraphicFramePr>
          <p:nvPr/>
        </p:nvGraphicFramePr>
        <p:xfrm>
          <a:off x="812800" y="2159000"/>
          <a:ext cx="5461000" cy="2133600"/>
        </p:xfrm>
        <a:graphic>
          <a:graphicData uri="http://schemas.openxmlformats.org/drawingml/2006/table">
            <a:tbl>
              <a:tblPr firstRow="1" bandRow="1">
                <a:tableStyleId>{5C22544A-7EE6-4342-B048-85BDC9FD1C3A}</a:tableStyleId>
              </a:tblPr>
              <a:tblGrid>
                <a:gridCol w="2730500"/>
                <a:gridCol w="2730500"/>
              </a:tblGrid>
              <a:tr h="426720">
                <a:tc>
                  <a:txBody>
                    <a:bodyPr/>
                    <a:lstStyle/>
                    <a:p>
                      <a:pPr algn="l"/>
                      <a:r>
                        <a:rPr sz="1600" b="1">
                          <a:solidFill>
                            <a:srgbClr val="F4EFE2"/>
                          </a:solidFill>
                          <a:latin typeface="Arial"/>
                        </a:rPr>
                        <a:t>Formule</a:t>
                      </a:r>
                    </a:p>
                  </a:txBody>
                  <a:tcPr anchor="ctr">
                    <a:solidFill>
                      <a:srgbClr val="1A1813"/>
                    </a:solidFill>
                  </a:tcPr>
                </a:tc>
                <a:tc>
                  <a:txBody>
                    <a:bodyPr/>
                    <a:lstStyle/>
                    <a:p>
                      <a:pPr algn="l"/>
                      <a:r>
                        <a:rPr sz="1600" b="1">
                          <a:solidFill>
                            <a:srgbClr val="F4EFE2"/>
                          </a:solidFill>
                          <a:latin typeface="Arial"/>
                        </a:rPr>
                        <a:t>Commission</a:t>
                      </a:r>
                    </a:p>
                  </a:txBody>
                  <a:tcPr anchor="ctr">
                    <a:solidFill>
                      <a:srgbClr val="1A1813"/>
                    </a:solidFill>
                  </a:tcPr>
                </a:tc>
              </a:tr>
              <a:tr h="426720">
                <a:tc>
                  <a:txBody>
                    <a:bodyPr/>
                    <a:lstStyle/>
                    <a:p>
                      <a:pPr algn="l"/>
                      <a:r>
                        <a:rPr sz="1600" b="0">
                          <a:solidFill>
                            <a:srgbClr val="1A1813"/>
                          </a:solidFill>
                          <a:latin typeface="Arial"/>
                        </a:rPr>
                        <a:t>Basic</a:t>
                      </a:r>
                    </a:p>
                  </a:txBody>
                  <a:tcPr anchor="ctr">
                    <a:solidFill>
                      <a:srgbClr val="FBF8EF"/>
                    </a:solidFill>
                  </a:tcPr>
                </a:tc>
                <a:tc>
                  <a:txBody>
                    <a:bodyPr/>
                    <a:lstStyle/>
                    <a:p>
                      <a:pPr algn="l"/>
                      <a:r>
                        <a:rPr sz="1600" b="0">
                          <a:solidFill>
                            <a:srgbClr val="1A1813"/>
                          </a:solidFill>
                          <a:latin typeface="Arial"/>
                        </a:rPr>
                        <a:t>8 % du loyer</a:t>
                      </a:r>
                    </a:p>
                  </a:txBody>
                  <a:tcPr anchor="ctr">
                    <a:solidFill>
                      <a:srgbClr val="FBF8EF"/>
                    </a:solidFill>
                  </a:tcPr>
                </a:tc>
              </a:tr>
              <a:tr h="426720">
                <a:tc>
                  <a:txBody>
                    <a:bodyPr/>
                    <a:lstStyle/>
                    <a:p>
                      <a:pPr algn="l"/>
                      <a:r>
                        <a:rPr sz="1600" b="0">
                          <a:solidFill>
                            <a:srgbClr val="1A1813"/>
                          </a:solidFill>
                          <a:latin typeface="Arial"/>
                        </a:rPr>
                        <a:t>Standard</a:t>
                      </a:r>
                    </a:p>
                  </a:txBody>
                  <a:tcPr anchor="ctr">
                    <a:solidFill>
                      <a:srgbClr val="F0EADA"/>
                    </a:solidFill>
                  </a:tcPr>
                </a:tc>
                <a:tc>
                  <a:txBody>
                    <a:bodyPr/>
                    <a:lstStyle/>
                    <a:p>
                      <a:pPr algn="l"/>
                      <a:r>
                        <a:rPr sz="1600" b="0">
                          <a:solidFill>
                            <a:srgbClr val="1A1813"/>
                          </a:solidFill>
                          <a:latin typeface="Arial"/>
                        </a:rPr>
                        <a:t>12 % du loyer</a:t>
                      </a:r>
                    </a:p>
                  </a:txBody>
                  <a:tcPr anchor="ctr">
                    <a:solidFill>
                      <a:srgbClr val="F0EADA"/>
                    </a:solidFill>
                  </a:tcPr>
                </a:tc>
              </a:tr>
              <a:tr h="426720">
                <a:tc>
                  <a:txBody>
                    <a:bodyPr/>
                    <a:lstStyle/>
                    <a:p>
                      <a:pPr algn="l"/>
                      <a:r>
                        <a:rPr sz="1600" b="0">
                          <a:solidFill>
                            <a:srgbClr val="1A1813"/>
                          </a:solidFill>
                          <a:latin typeface="Arial"/>
                        </a:rPr>
                        <a:t>Premium</a:t>
                      </a:r>
                    </a:p>
                  </a:txBody>
                  <a:tcPr anchor="ctr">
                    <a:solidFill>
                      <a:srgbClr val="FBF8EF"/>
                    </a:solidFill>
                  </a:tcPr>
                </a:tc>
                <a:tc>
                  <a:txBody>
                    <a:bodyPr/>
                    <a:lstStyle/>
                    <a:p>
                      <a:pPr algn="l"/>
                      <a:r>
                        <a:rPr sz="1600" b="0">
                          <a:solidFill>
                            <a:srgbClr val="1A1813"/>
                          </a:solidFill>
                          <a:latin typeface="Arial"/>
                        </a:rPr>
                        <a:t>18 % du loyer</a:t>
                      </a:r>
                    </a:p>
                  </a:txBody>
                  <a:tcPr anchor="ctr">
                    <a:solidFill>
                      <a:srgbClr val="FBF8EF"/>
                    </a:solidFill>
                  </a:tcPr>
                </a:tc>
              </a:tr>
              <a:tr h="426720">
                <a:tc>
                  <a:txBody>
                    <a:bodyPr/>
                    <a:lstStyle/>
                    <a:p>
                      <a:pPr algn="l"/>
                      <a:r>
                        <a:rPr sz="1600" b="0">
                          <a:solidFill>
                            <a:srgbClr val="1A1813"/>
                          </a:solidFill>
                          <a:latin typeface="Arial"/>
                        </a:rPr>
                        <a:t>Diaspora</a:t>
                      </a:r>
                    </a:p>
                  </a:txBody>
                  <a:tcPr anchor="ctr">
                    <a:solidFill>
                      <a:srgbClr val="F0EADA"/>
                    </a:solidFill>
                  </a:tcPr>
                </a:tc>
                <a:tc>
                  <a:txBody>
                    <a:bodyPr/>
                    <a:lstStyle/>
                    <a:p>
                      <a:pPr algn="l"/>
                      <a:r>
                        <a:rPr sz="1600" b="0">
                          <a:solidFill>
                            <a:srgbClr val="1A1813"/>
                          </a:solidFill>
                          <a:latin typeface="Arial"/>
                        </a:rPr>
                        <a:t>18 % + 25 000 FCFA</a:t>
                      </a:r>
                    </a:p>
                  </a:txBody>
                  <a:tcPr anchor="ctr">
                    <a:solidFill>
                      <a:srgbClr val="F0EADA"/>
                    </a:solidFill>
                  </a:tcPr>
                </a:tc>
              </a:tr>
            </a:tbl>
          </a:graphicData>
        </a:graphic>
      </p:graphicFrame>
      <p:sp>
        <p:nvSpPr>
          <p:cNvPr id="5" name="Rounded Rectangle 4"/>
          <p:cNvSpPr/>
          <p:nvPr/>
        </p:nvSpPr>
        <p:spPr>
          <a:xfrm>
            <a:off x="6578600" y="2159000"/>
            <a:ext cx="4800600" cy="2159000"/>
          </a:xfrm>
          <a:prstGeom prst="roundRect">
            <a:avLst>
              <a:gd name="adj" fmla="val 4705"/>
            </a:avLst>
          </a:prstGeom>
          <a:solidFill>
            <a:srgbClr val="F2B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9400" rIns="279400" tIns="279400" bIns="279400"/>
          <a:lstStyle/>
          <a:p>
            <a:pPr algn="l">
              <a:spcAft>
                <a:spcPts val="800"/>
              </a:spcAft>
            </a:pPr>
            <a:r>
              <a:rPr sz="2200" b="1">
                <a:solidFill>
                  <a:srgbClr val="1A1813"/>
                </a:solidFill>
                <a:latin typeface="Arial"/>
              </a:rPr>
              <a:t>98 à 200 biens loués</a:t>
            </a:r>
          </a:p>
          <a:p>
            <a:pPr algn="l">
              <a:lnSpc>
                <a:spcPct val="110000"/>
              </a:lnSpc>
              <a:spcAft>
                <a:spcPts val="0"/>
              </a:spcAft>
            </a:pPr>
            <a:r>
              <a:rPr sz="1400" b="0">
                <a:solidFill>
                  <a:srgbClr val="1A1813"/>
                </a:solidFill>
                <a:latin typeface="Arial"/>
              </a:rPr>
              <a:t>pour couvrir les charges mensuelles de la phase 1 (hypothèse, commission moyenne de 12 %).</a:t>
            </a:r>
          </a:p>
        </p:txBody>
      </p:sp>
      <p:sp>
        <p:nvSpPr>
          <p:cNvPr id="6" name="Rectangle 5"/>
          <p:cNvSpPr/>
          <p:nvPr/>
        </p:nvSpPr>
        <p:spPr>
          <a:xfrm>
            <a:off x="812800" y="4699000"/>
            <a:ext cx="10566400" cy="50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400" b="0">
                <a:solidFill>
                  <a:srgbClr val="5A5547"/>
                </a:solidFill>
                <a:latin typeface="Arial"/>
              </a:rPr>
              <a:t>Services, logistique et flotte s’ajoutent : tarifs à définir avec l’équipe.</a:t>
            </a:r>
          </a:p>
        </p:txBody>
      </p:sp>
      <p:sp>
        <p:nvSpPr>
          <p:cNvPr id="7" name="Rectangle 6"/>
          <p:cNvSpPr/>
          <p:nvPr/>
        </p:nvSpPr>
        <p:spPr>
          <a:xfrm>
            <a:off x="812800" y="6191250"/>
            <a:ext cx="5080000" cy="25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200" b="0">
                <a:solidFill>
                  <a:srgbClr val="5A5547"/>
                </a:solidFill>
                <a:latin typeface="Arial"/>
              </a:rPr>
              <a:t>Immo Bell · Confidentiel</a:t>
            </a:r>
          </a:p>
        </p:txBody>
      </p:sp>
      <p:pic>
        <p:nvPicPr>
          <p:cNvPr id="8" name="Picture 7" descr="logo.png"/>
          <p:cNvPicPr>
            <a:picLocks noChangeAspect="1"/>
          </p:cNvPicPr>
          <p:nvPr/>
        </p:nvPicPr>
        <p:blipFill>
          <a:blip r:embed="rId3"/>
          <a:stretch>
            <a:fillRect/>
          </a:stretch>
        </p:blipFill>
        <p:spPr>
          <a:xfrm>
            <a:off x="10617200" y="6019800"/>
            <a:ext cx="762000" cy="61595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4" fill="hold"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down)">
                                      <p:cBhvr>
                                        <p:cTn id="6" dur="500"/>
                                        <p:tgtEl>
                                          <p:spTgt spid="4"/>
                                        </p:tgtEl>
                                      </p:cBhvr>
                                    </p:animEffect>
                                  </p:childTnLst>
                                </p:cTn>
                              </p:par>
                            </p:childTnLst>
                          </p:cTn>
                        </p:par>
                        <p:par>
                          <p:cTn id="8" fill="hold">
                            <p:stCondLst>
                              <p:cond delay="500"/>
                            </p:stCondLst>
                            <p:childTnLst>
                              <p:par>
                                <p:cTn id="13" presetID="53" presetClass="entr" presetSubtype="16" fill="hold" grpId="0" nodeType="afterEffect">
                                  <p:stCondLst>
                                    <p:cond delay="0"/>
                                  </p:stCondLst>
                                  <p:childTnLst>
                                    <p:set>
                                      <p:cBhvr>
                                        <p:cTn id="9" dur="1" fill="hold">
                                          <p:stCondLst>
                                            <p:cond delay="0"/>
                                          </p:stCondLst>
                                        </p:cTn>
                                        <p:tgtEl>
                                          <p:spTgt spid="5"/>
                                        </p:tgtEl>
                                        <p:attrNameLst>
                                          <p:attrName>style.visibility</p:attrName>
                                        </p:attrNameLst>
                                      </p:cBhvr>
                                      <p:to>
                                        <p:strVal val="visible"/>
                                      </p:to>
                                    </p:set>
                                    <p:anim calcmode="lin" valueType="num">
                                      <p:cBhvr>
                                        <p:cTn id="10" dur="500" fill="hold"/>
                                        <p:tgtEl>
                                          <p:spTgt spid="5"/>
                                        </p:tgtEl>
                                        <p:attrNameLst>
                                          <p:attrName>ppt_w</p:attrName>
                                        </p:attrNameLst>
                                      </p:cBhvr>
                                      <p:tavLst>
                                        <p:tav tm="0">
                                          <p:val>
                                            <p:fltVal val="0"/>
                                          </p:val>
                                        </p:tav>
                                        <p:tav tm="100000">
                                          <p:val>
                                            <p:strVal val="#ppt_w"/>
                                          </p:val>
                                        </p:tav>
                                      </p:tavLst>
                                    </p:anim>
                                    <p:anim calcmode="lin" valueType="num">
                                      <p:cBhvr>
                                        <p:cTn id="11" dur="500" fill="hold"/>
                                        <p:tgtEl>
                                          <p:spTgt spid="5"/>
                                        </p:tgtEl>
                                        <p:attrNameLst>
                                          <p:attrName>ppt_h</p:attrName>
                                        </p:attrNameLst>
                                      </p:cBhvr>
                                      <p:tavLst>
                                        <p:tav tm="0">
                                          <p:val>
                                            <p:fltVal val="0"/>
                                          </p:val>
                                        </p:tav>
                                        <p:tav tm="100000">
                                          <p:val>
                                            <p:strVal val="#ppt_h"/>
                                          </p:val>
                                        </p:tav>
                                      </p:tavLst>
                                    </p:anim>
                                    <p:animEffect transition="in" filter="fade">
                                      <p:cBhvr>
                                        <p:cTn id="12" dur="500"/>
                                        <p:tgtEl>
                                          <p:spTgt spid="5"/>
                                        </p:tgtEl>
                                      </p:cBhvr>
                                    </p:animEffect>
                                  </p:childTnLst>
                                </p:cTn>
                              </p:par>
                            </p:childTnLst>
                          </p:cTn>
                        </p:par>
                        <p:par>
                          <p:cTn id="14" fill="hold">
                            <p:stCondLst>
                              <p:cond delay="1000"/>
                            </p:stCondLst>
                            <p:childTnLst>
                              <p:par>
                                <p:cTn id="17" presetID="10" presetClass="entr" presetSubtype="0"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EFE2"/>
        </a:solidFill>
        <a:effectLst/>
      </p:bgPr>
    </p:bg>
    <p:spTree>
      <p:nvGrpSpPr>
        <p:cNvPr id="1" name=""/>
        <p:cNvGrpSpPr/>
        <p:nvPr/>
      </p:nvGrpSpPr>
      <p:grpSpPr/>
      <p:sp>
        <p:nvSpPr>
          <p:cNvPr id="2" name="Rectangle 1"/>
          <p:cNvSpPr/>
          <p:nvPr/>
        </p:nvSpPr>
        <p:spPr>
          <a:xfrm>
            <a:off x="812800" y="762000"/>
            <a:ext cx="10566400" cy="25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200" b="1">
                <a:solidFill>
                  <a:srgbClr val="7A5A00"/>
                </a:solidFill>
                <a:latin typeface="Arial"/>
              </a:rPr>
              <a:t>L’ÉQUIPE</a:t>
            </a:r>
          </a:p>
        </p:txBody>
      </p:sp>
      <p:sp>
        <p:nvSpPr>
          <p:cNvPr id="3" name="Rectangle 2"/>
          <p:cNvSpPr/>
          <p:nvPr/>
        </p:nvSpPr>
        <p:spPr>
          <a:xfrm>
            <a:off x="812800" y="1066800"/>
            <a:ext cx="10566400" cy="1079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lnSpc>
                <a:spcPct val="95000"/>
              </a:lnSpc>
              <a:spcAft>
                <a:spcPts val="0"/>
              </a:spcAft>
            </a:pPr>
            <a:r>
              <a:rPr sz="3600" b="1">
                <a:solidFill>
                  <a:srgbClr val="1A1813"/>
                </a:solidFill>
                <a:latin typeface="Arial"/>
              </a:rPr>
              <a:t>Onze personnes à l’ouverture, sept de plus pour la logistique</a:t>
            </a:r>
          </a:p>
        </p:txBody>
      </p:sp>
      <p:sp>
        <p:nvSpPr>
          <p:cNvPr id="4" name="Rounded Rectangle 3"/>
          <p:cNvSpPr/>
          <p:nvPr/>
        </p:nvSpPr>
        <p:spPr>
          <a:xfrm>
            <a:off x="812800" y="2540000"/>
            <a:ext cx="5181600" cy="2603500"/>
          </a:xfrm>
          <a:prstGeom prst="roundRect">
            <a:avLst>
              <a:gd name="adj" fmla="val 3902"/>
            </a:avLst>
          </a:prstGeom>
          <a:solidFill>
            <a:srgbClr val="FBF8EF"/>
          </a:solidFill>
          <a:ln w="9525">
            <a:solidFill>
              <a:srgbClr val="DCD4BD"/>
            </a:solidFill>
          </a:ln>
          <a:effectLst/>
        </p:spPr>
        <p:style>
          <a:lnRef idx="1">
            <a:schemeClr val="accent1"/>
          </a:lnRef>
          <a:fillRef idx="3">
            <a:schemeClr val="accent1"/>
          </a:fillRef>
          <a:effectRef idx="2">
            <a:schemeClr val="accent1"/>
          </a:effectRef>
          <a:fontRef idx="minor">
            <a:schemeClr val="lt1"/>
          </a:fontRef>
        </p:style>
        <p:txBody>
          <a:bodyPr rtlCol="0" anchor="t" wrap="square" lIns="215900" rIns="215900" tIns="215900" bIns="215900"/>
          <a:lstStyle/>
          <a:p>
            <a:pPr algn="l">
              <a:spcAft>
                <a:spcPts val="500"/>
              </a:spcAft>
            </a:pPr>
            <a:r>
              <a:rPr sz="3600" b="1">
                <a:solidFill>
                  <a:srgbClr val="C28F00"/>
                </a:solidFill>
                <a:latin typeface="Arial"/>
              </a:rPr>
              <a:t>11</a:t>
            </a:r>
          </a:p>
          <a:p>
            <a:pPr algn="l">
              <a:spcAft>
                <a:spcPts val="600"/>
              </a:spcAft>
            </a:pPr>
            <a:r>
              <a:rPr sz="1600" b="1">
                <a:solidFill>
                  <a:srgbClr val="1A1813"/>
                </a:solidFill>
                <a:latin typeface="Arial"/>
              </a:rPr>
              <a:t>Agence de Bonanjo</a:t>
            </a:r>
          </a:p>
          <a:p>
            <a:pPr algn="l">
              <a:lnSpc>
                <a:spcPct val="110000"/>
              </a:lnSpc>
              <a:spcAft>
                <a:spcPts val="0"/>
              </a:spcAft>
            </a:pPr>
            <a:r>
              <a:rPr sz="1400" b="0">
                <a:solidFill>
                  <a:srgbClr val="5A5547"/>
                </a:solidFill>
                <a:latin typeface="Arial"/>
              </a:rPr>
              <a:t>Direction, exploitation, pôle juridique, conseillers, agents terrain, comptabilité, service après-vente, plateforme, marketing.</a:t>
            </a:r>
          </a:p>
        </p:txBody>
      </p:sp>
      <p:sp>
        <p:nvSpPr>
          <p:cNvPr id="5" name="Rounded Rectangle 4"/>
          <p:cNvSpPr/>
          <p:nvPr/>
        </p:nvSpPr>
        <p:spPr>
          <a:xfrm>
            <a:off x="6197600" y="2540000"/>
            <a:ext cx="5181600" cy="2603500"/>
          </a:xfrm>
          <a:prstGeom prst="roundRect">
            <a:avLst>
              <a:gd name="adj" fmla="val 3902"/>
            </a:avLst>
          </a:prstGeom>
          <a:solidFill>
            <a:srgbClr val="F2B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15900" rIns="215900" tIns="215900" bIns="215900"/>
          <a:lstStyle/>
          <a:p>
            <a:pPr algn="l">
              <a:spcAft>
                <a:spcPts val="500"/>
              </a:spcAft>
            </a:pPr>
            <a:r>
              <a:rPr sz="3600" b="1">
                <a:solidFill>
                  <a:srgbClr val="1A1813"/>
                </a:solidFill>
                <a:latin typeface="Arial"/>
              </a:rPr>
              <a:t>7</a:t>
            </a:r>
          </a:p>
          <a:p>
            <a:pPr algn="l">
              <a:spcAft>
                <a:spcPts val="600"/>
              </a:spcAft>
            </a:pPr>
            <a:r>
              <a:rPr sz="1600" b="1">
                <a:solidFill>
                  <a:srgbClr val="1A1813"/>
                </a:solidFill>
                <a:latin typeface="Arial"/>
              </a:rPr>
              <a:t>Logistique</a:t>
            </a:r>
          </a:p>
          <a:p>
            <a:pPr algn="l">
              <a:lnSpc>
                <a:spcPct val="110000"/>
              </a:lnSpc>
              <a:spcAft>
                <a:spcPts val="0"/>
              </a:spcAft>
            </a:pPr>
            <a:r>
              <a:rPr sz="1400" b="0">
                <a:solidFill>
                  <a:srgbClr val="1A1813"/>
                </a:solidFill>
                <a:latin typeface="Arial"/>
              </a:rPr>
              <a:t>Un responsable, quatre déménageurs et deux chauffeurs, à l’ouverture des déménagements.</a:t>
            </a:r>
          </a:p>
        </p:txBody>
      </p:sp>
      <p:sp>
        <p:nvSpPr>
          <p:cNvPr id="6" name="Rectangle 5"/>
          <p:cNvSpPr/>
          <p:nvPr/>
        </p:nvSpPr>
        <p:spPr>
          <a:xfrm>
            <a:off x="812800" y="5334000"/>
            <a:ext cx="9398000" cy="571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400" b="0">
                <a:solidFill>
                  <a:srgbClr val="5A5547"/>
                </a:solidFill>
                <a:latin typeface="Arial"/>
              </a:rPr>
              <a:t>Masse salariale de la phase 1, charges comprises : 3,2 à 5,9 millions de FCFA par mois (hypothèse).</a:t>
            </a:r>
          </a:p>
        </p:txBody>
      </p:sp>
      <p:sp>
        <p:nvSpPr>
          <p:cNvPr id="7" name="Rectangle 6"/>
          <p:cNvSpPr/>
          <p:nvPr/>
        </p:nvSpPr>
        <p:spPr>
          <a:xfrm>
            <a:off x="812800" y="6191250"/>
            <a:ext cx="5080000" cy="25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200" b="0">
                <a:solidFill>
                  <a:srgbClr val="5A5547"/>
                </a:solidFill>
                <a:latin typeface="Arial"/>
              </a:rPr>
              <a:t>Immo Bell · Confidentiel</a:t>
            </a:r>
          </a:p>
        </p:txBody>
      </p:sp>
      <p:pic>
        <p:nvPicPr>
          <p:cNvPr id="8" name="Picture 7" descr="logo.png"/>
          <p:cNvPicPr>
            <a:picLocks noChangeAspect="1"/>
          </p:cNvPicPr>
          <p:nvPr/>
        </p:nvPicPr>
        <p:blipFill>
          <a:blip r:embed="rId3"/>
          <a:stretch>
            <a:fillRect/>
          </a:stretch>
        </p:blipFill>
        <p:spPr>
          <a:xfrm>
            <a:off x="10617200" y="6019800"/>
            <a:ext cx="762000" cy="61595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4"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down)">
                                      <p:cBhvr>
                                        <p:cTn id="6" dur="500"/>
                                        <p:tgtEl>
                                          <p:spTgt spid="4"/>
                                        </p:tgtEl>
                                      </p:cBhvr>
                                    </p:animEffect>
                                  </p:childTnLst>
                                </p:cTn>
                              </p:par>
                            </p:childTnLst>
                          </p:cTn>
                        </p:par>
                        <p:par>
                          <p:cTn id="8" fill="hold">
                            <p:stCondLst>
                              <p:cond delay="500"/>
                            </p:stCondLst>
                            <p:childTnLst>
                              <p:par>
                                <p:cTn id="13" presetID="53" presetClass="entr" presetSubtype="16" fill="hold" grpId="0" nodeType="afterEffect">
                                  <p:stCondLst>
                                    <p:cond delay="0"/>
                                  </p:stCondLst>
                                  <p:childTnLst>
                                    <p:set>
                                      <p:cBhvr>
                                        <p:cTn id="9" dur="1" fill="hold">
                                          <p:stCondLst>
                                            <p:cond delay="0"/>
                                          </p:stCondLst>
                                        </p:cTn>
                                        <p:tgtEl>
                                          <p:spTgt spid="5"/>
                                        </p:tgtEl>
                                        <p:attrNameLst>
                                          <p:attrName>style.visibility</p:attrName>
                                        </p:attrNameLst>
                                      </p:cBhvr>
                                      <p:to>
                                        <p:strVal val="visible"/>
                                      </p:to>
                                    </p:set>
                                    <p:anim calcmode="lin" valueType="num">
                                      <p:cBhvr>
                                        <p:cTn id="10" dur="500" fill="hold"/>
                                        <p:tgtEl>
                                          <p:spTgt spid="5"/>
                                        </p:tgtEl>
                                        <p:attrNameLst>
                                          <p:attrName>ppt_w</p:attrName>
                                        </p:attrNameLst>
                                      </p:cBhvr>
                                      <p:tavLst>
                                        <p:tav tm="0">
                                          <p:val>
                                            <p:fltVal val="0"/>
                                          </p:val>
                                        </p:tav>
                                        <p:tav tm="100000">
                                          <p:val>
                                            <p:strVal val="#ppt_w"/>
                                          </p:val>
                                        </p:tav>
                                      </p:tavLst>
                                    </p:anim>
                                    <p:anim calcmode="lin" valueType="num">
                                      <p:cBhvr>
                                        <p:cTn id="11" dur="500" fill="hold"/>
                                        <p:tgtEl>
                                          <p:spTgt spid="5"/>
                                        </p:tgtEl>
                                        <p:attrNameLst>
                                          <p:attrName>ppt_h</p:attrName>
                                        </p:attrNameLst>
                                      </p:cBhvr>
                                      <p:tavLst>
                                        <p:tav tm="0">
                                          <p:val>
                                            <p:fltVal val="0"/>
                                          </p:val>
                                        </p:tav>
                                        <p:tav tm="100000">
                                          <p:val>
                                            <p:strVal val="#ppt_h"/>
                                          </p:val>
                                        </p:tav>
                                      </p:tavLst>
                                    </p:anim>
                                    <p:animEffect transition="in" filter="fade">
                                      <p:cBhvr>
                                        <p:cTn id="12" dur="500"/>
                                        <p:tgtEl>
                                          <p:spTgt spid="5"/>
                                        </p:tgtEl>
                                      </p:cBhvr>
                                    </p:animEffect>
                                  </p:childTnLst>
                                </p:cTn>
                              </p:par>
                            </p:childTnLst>
                          </p:cTn>
                        </p:par>
                        <p:par>
                          <p:cTn id="14" fill="hold">
                            <p:stCondLst>
                              <p:cond delay="1000"/>
                            </p:stCondLst>
                            <p:childTnLst>
                              <p:par>
                                <p:cTn id="17" presetID="10" presetClass="entr" presetSubtype="0"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EFE2"/>
        </a:solidFill>
        <a:effectLst/>
      </p:bgPr>
    </p:bg>
    <p:spTree>
      <p:nvGrpSpPr>
        <p:cNvPr id="1" name=""/>
        <p:cNvGrpSpPr/>
        <p:nvPr/>
      </p:nvGrpSpPr>
      <p:grpSpPr/>
      <p:sp>
        <p:nvSpPr>
          <p:cNvPr id="2" name="Rectangle 1"/>
          <p:cNvSpPr/>
          <p:nvPr/>
        </p:nvSpPr>
        <p:spPr>
          <a:xfrm>
            <a:off x="812800" y="762000"/>
            <a:ext cx="10566400" cy="25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200" b="1">
                <a:solidFill>
                  <a:srgbClr val="7A5A00"/>
                </a:solidFill>
                <a:latin typeface="Arial"/>
              </a:rPr>
              <a:t>LE BUDGET</a:t>
            </a:r>
          </a:p>
        </p:txBody>
      </p:sp>
      <p:sp>
        <p:nvSpPr>
          <p:cNvPr id="3" name="Rectangle 2"/>
          <p:cNvSpPr/>
          <p:nvPr/>
        </p:nvSpPr>
        <p:spPr>
          <a:xfrm>
            <a:off x="812800" y="1066800"/>
            <a:ext cx="10566400" cy="1079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lnSpc>
                <a:spcPct val="95000"/>
              </a:lnSpc>
              <a:spcAft>
                <a:spcPts val="0"/>
              </a:spcAft>
            </a:pPr>
            <a:r>
              <a:rPr sz="3600" b="1">
                <a:solidFill>
                  <a:srgbClr val="1A1813"/>
                </a:solidFill>
                <a:latin typeface="Arial"/>
              </a:rPr>
              <a:t>Besoin de financement, en millions de FCFA</a:t>
            </a:r>
          </a:p>
        </p:txBody>
      </p:sp>
      <p:graphicFrame>
        <p:nvGraphicFramePr>
          <p:cNvPr id="4" name="Table 3"/>
          <p:cNvGraphicFramePr>
            <a:graphicFrameLocks noGrp="1"/>
          </p:cNvGraphicFramePr>
          <p:nvPr/>
        </p:nvGraphicFramePr>
        <p:xfrm>
          <a:off x="812800" y="2603500"/>
          <a:ext cx="10566400" cy="2560320"/>
        </p:xfrm>
        <a:graphic>
          <a:graphicData uri="http://schemas.openxmlformats.org/drawingml/2006/table">
            <a:tbl>
              <a:tblPr firstRow="1" bandRow="1">
                <a:tableStyleId>{5C22544A-7EE6-4342-B048-85BDC9FD1C3A}</a:tableStyleId>
              </a:tblPr>
              <a:tblGrid>
                <a:gridCol w="5494528"/>
                <a:gridCol w="2535936"/>
                <a:gridCol w="2535936"/>
              </a:tblGrid>
              <a:tr h="426720">
                <a:tc>
                  <a:txBody>
                    <a:bodyPr/>
                    <a:lstStyle/>
                    <a:p>
                      <a:pPr algn="l"/>
                      <a:r>
                        <a:rPr sz="1600" b="1">
                          <a:solidFill>
                            <a:srgbClr val="F4EFE2"/>
                          </a:solidFill>
                          <a:latin typeface="Arial"/>
                        </a:rPr>
                        <a:t>Poste</a:t>
                      </a:r>
                    </a:p>
                  </a:txBody>
                  <a:tcPr anchor="ctr">
                    <a:solidFill>
                      <a:srgbClr val="1A1813"/>
                    </a:solidFill>
                  </a:tcPr>
                </a:tc>
                <a:tc>
                  <a:txBody>
                    <a:bodyPr/>
                    <a:lstStyle/>
                    <a:p>
                      <a:pPr algn="r"/>
                      <a:r>
                        <a:rPr sz="1600" b="1">
                          <a:solidFill>
                            <a:srgbClr val="F4EFE2"/>
                          </a:solidFill>
                          <a:latin typeface="Arial"/>
                        </a:rPr>
                        <a:t>Hypothèse basse</a:t>
                      </a:r>
                    </a:p>
                  </a:txBody>
                  <a:tcPr anchor="ctr">
                    <a:solidFill>
                      <a:srgbClr val="1A1813"/>
                    </a:solidFill>
                  </a:tcPr>
                </a:tc>
                <a:tc>
                  <a:txBody>
                    <a:bodyPr/>
                    <a:lstStyle/>
                    <a:p>
                      <a:pPr algn="r"/>
                      <a:r>
                        <a:rPr sz="1600" b="1">
                          <a:solidFill>
                            <a:srgbClr val="F4EFE2"/>
                          </a:solidFill>
                          <a:latin typeface="Arial"/>
                        </a:rPr>
                        <a:t>Hypothèse haute</a:t>
                      </a:r>
                    </a:p>
                  </a:txBody>
                  <a:tcPr anchor="ctr">
                    <a:solidFill>
                      <a:srgbClr val="1A1813"/>
                    </a:solidFill>
                  </a:tcPr>
                </a:tc>
              </a:tr>
              <a:tr h="426720">
                <a:tc>
                  <a:txBody>
                    <a:bodyPr/>
                    <a:lstStyle/>
                    <a:p>
                      <a:pPr algn="l"/>
                      <a:r>
                        <a:rPr sz="1600" b="0">
                          <a:solidFill>
                            <a:srgbClr val="1A1813"/>
                          </a:solidFill>
                          <a:latin typeface="Arial"/>
                        </a:rPr>
                        <a:t>Investissements de démarrage</a:t>
                      </a:r>
                    </a:p>
                  </a:txBody>
                  <a:tcPr anchor="ctr">
                    <a:solidFill>
                      <a:srgbClr val="FBF8EF"/>
                    </a:solidFill>
                  </a:tcPr>
                </a:tc>
                <a:tc>
                  <a:txBody>
                    <a:bodyPr/>
                    <a:lstStyle/>
                    <a:p>
                      <a:pPr algn="r"/>
                      <a:r>
                        <a:rPr sz="1600" b="0">
                          <a:solidFill>
                            <a:srgbClr val="1A1813"/>
                          </a:solidFill>
                          <a:latin typeface="Arial"/>
                        </a:rPr>
                        <a:t>19,3</a:t>
                      </a:r>
                    </a:p>
                  </a:txBody>
                  <a:tcPr anchor="ctr">
                    <a:solidFill>
                      <a:srgbClr val="FBF8EF"/>
                    </a:solidFill>
                  </a:tcPr>
                </a:tc>
                <a:tc>
                  <a:txBody>
                    <a:bodyPr/>
                    <a:lstStyle/>
                    <a:p>
                      <a:pPr algn="r"/>
                      <a:r>
                        <a:rPr sz="1600" b="0">
                          <a:solidFill>
                            <a:srgbClr val="1A1813"/>
                          </a:solidFill>
                          <a:latin typeface="Arial"/>
                        </a:rPr>
                        <a:t>50,7</a:t>
                      </a:r>
                    </a:p>
                  </a:txBody>
                  <a:tcPr anchor="ctr">
                    <a:solidFill>
                      <a:srgbClr val="FBF8EF"/>
                    </a:solidFill>
                  </a:tcPr>
                </a:tc>
              </a:tr>
              <a:tr h="426720">
                <a:tc>
                  <a:txBody>
                    <a:bodyPr/>
                    <a:lstStyle/>
                    <a:p>
                      <a:pPr algn="l"/>
                      <a:r>
                        <a:rPr sz="1600" b="0">
                          <a:solidFill>
                            <a:srgbClr val="1A1813"/>
                          </a:solidFill>
                          <a:latin typeface="Arial"/>
                        </a:rPr>
                        <a:t>Trésorerie : six mois de fonctionnement</a:t>
                      </a:r>
                    </a:p>
                  </a:txBody>
                  <a:tcPr anchor="ctr">
                    <a:solidFill>
                      <a:srgbClr val="F0EADA"/>
                    </a:solidFill>
                  </a:tcPr>
                </a:tc>
                <a:tc>
                  <a:txBody>
                    <a:bodyPr/>
                    <a:lstStyle/>
                    <a:p>
                      <a:pPr algn="r"/>
                      <a:r>
                        <a:rPr sz="1600" b="0">
                          <a:solidFill>
                            <a:srgbClr val="1A1813"/>
                          </a:solidFill>
                          <a:latin typeface="Arial"/>
                        </a:rPr>
                        <a:t>30,1</a:t>
                      </a:r>
                    </a:p>
                  </a:txBody>
                  <a:tcPr anchor="ctr">
                    <a:solidFill>
                      <a:srgbClr val="F0EADA"/>
                    </a:solidFill>
                  </a:tcPr>
                </a:tc>
                <a:tc>
                  <a:txBody>
                    <a:bodyPr/>
                    <a:lstStyle/>
                    <a:p>
                      <a:pPr algn="r"/>
                      <a:r>
                        <a:rPr sz="1600" b="0">
                          <a:solidFill>
                            <a:srgbClr val="1A1813"/>
                          </a:solidFill>
                          <a:latin typeface="Arial"/>
                        </a:rPr>
                        <a:t>61,1</a:t>
                      </a:r>
                    </a:p>
                  </a:txBody>
                  <a:tcPr anchor="ctr">
                    <a:solidFill>
                      <a:srgbClr val="F0EADA"/>
                    </a:solidFill>
                  </a:tcPr>
                </a:tc>
              </a:tr>
              <a:tr h="426720">
                <a:tc>
                  <a:txBody>
                    <a:bodyPr/>
                    <a:lstStyle/>
                    <a:p>
                      <a:pPr algn="l"/>
                      <a:r>
                        <a:rPr sz="1600" b="1">
                          <a:solidFill>
                            <a:srgbClr val="1A1813"/>
                          </a:solidFill>
                          <a:latin typeface="Arial"/>
                        </a:rPr>
                        <a:t>Lancement et pilote</a:t>
                      </a:r>
                    </a:p>
                  </a:txBody>
                  <a:tcPr anchor="ctr">
                    <a:solidFill>
                      <a:srgbClr val="FBF8EF"/>
                    </a:solidFill>
                  </a:tcPr>
                </a:tc>
                <a:tc>
                  <a:txBody>
                    <a:bodyPr/>
                    <a:lstStyle/>
                    <a:p>
                      <a:pPr algn="r"/>
                      <a:r>
                        <a:rPr sz="1600" b="1">
                          <a:solidFill>
                            <a:srgbClr val="1A1813"/>
                          </a:solidFill>
                          <a:latin typeface="Arial"/>
                        </a:rPr>
                        <a:t>49,4</a:t>
                      </a:r>
                    </a:p>
                  </a:txBody>
                  <a:tcPr anchor="ctr">
                    <a:solidFill>
                      <a:srgbClr val="FBF8EF"/>
                    </a:solidFill>
                  </a:tcPr>
                </a:tc>
                <a:tc>
                  <a:txBody>
                    <a:bodyPr/>
                    <a:lstStyle/>
                    <a:p>
                      <a:pPr algn="r"/>
                      <a:r>
                        <a:rPr sz="1600" b="1">
                          <a:solidFill>
                            <a:srgbClr val="1A1813"/>
                          </a:solidFill>
                          <a:latin typeface="Arial"/>
                        </a:rPr>
                        <a:t>111,8</a:t>
                      </a:r>
                    </a:p>
                  </a:txBody>
                  <a:tcPr anchor="ctr">
                    <a:solidFill>
                      <a:srgbClr val="FBF8EF"/>
                    </a:solidFill>
                  </a:tcPr>
                </a:tc>
              </a:tr>
              <a:tr h="426720">
                <a:tc>
                  <a:txBody>
                    <a:bodyPr/>
                    <a:lstStyle/>
                    <a:p>
                      <a:pPr algn="l"/>
                      <a:r>
                        <a:rPr sz="1600" b="0">
                          <a:solidFill>
                            <a:srgbClr val="1A1813"/>
                          </a:solidFill>
                          <a:latin typeface="Arial"/>
                        </a:rPr>
                        <a:t>Logistique, phase 2</a:t>
                      </a:r>
                    </a:p>
                  </a:txBody>
                  <a:tcPr anchor="ctr">
                    <a:solidFill>
                      <a:srgbClr val="F0EADA"/>
                    </a:solidFill>
                  </a:tcPr>
                </a:tc>
                <a:tc>
                  <a:txBody>
                    <a:bodyPr/>
                    <a:lstStyle/>
                    <a:p>
                      <a:pPr algn="r"/>
                      <a:r>
                        <a:rPr sz="1600" b="0">
                          <a:solidFill>
                            <a:srgbClr val="1A1813"/>
                          </a:solidFill>
                          <a:latin typeface="Arial"/>
                        </a:rPr>
                        <a:t>11,2</a:t>
                      </a:r>
                    </a:p>
                  </a:txBody>
                  <a:tcPr anchor="ctr">
                    <a:solidFill>
                      <a:srgbClr val="F0EADA"/>
                    </a:solidFill>
                  </a:tcPr>
                </a:tc>
                <a:tc>
                  <a:txBody>
                    <a:bodyPr/>
                    <a:lstStyle/>
                    <a:p>
                      <a:pPr algn="r"/>
                      <a:r>
                        <a:rPr sz="1600" b="0">
                          <a:solidFill>
                            <a:srgbClr val="1A1813"/>
                          </a:solidFill>
                          <a:latin typeface="Arial"/>
                        </a:rPr>
                        <a:t>25,7</a:t>
                      </a:r>
                    </a:p>
                  </a:txBody>
                  <a:tcPr anchor="ctr">
                    <a:solidFill>
                      <a:srgbClr val="F0EADA"/>
                    </a:solidFill>
                  </a:tcPr>
                </a:tc>
              </a:tr>
              <a:tr h="426720">
                <a:tc>
                  <a:txBody>
                    <a:bodyPr/>
                    <a:lstStyle/>
                    <a:p>
                      <a:pPr algn="l"/>
                      <a:r>
                        <a:rPr sz="1600" b="1">
                          <a:solidFill>
                            <a:srgbClr val="1A1813"/>
                          </a:solidFill>
                          <a:latin typeface="Arial"/>
                        </a:rPr>
                        <a:t>Besoin total</a:t>
                      </a:r>
                    </a:p>
                  </a:txBody>
                  <a:tcPr anchor="ctr">
                    <a:solidFill>
                      <a:srgbClr val="FBF8EF"/>
                    </a:solidFill>
                  </a:tcPr>
                </a:tc>
                <a:tc>
                  <a:txBody>
                    <a:bodyPr/>
                    <a:lstStyle/>
                    <a:p>
                      <a:pPr algn="r"/>
                      <a:r>
                        <a:rPr sz="1600" b="1">
                          <a:solidFill>
                            <a:srgbClr val="1A1813"/>
                          </a:solidFill>
                          <a:latin typeface="Arial"/>
                        </a:rPr>
                        <a:t>60,6</a:t>
                      </a:r>
                    </a:p>
                  </a:txBody>
                  <a:tcPr anchor="ctr">
                    <a:solidFill>
                      <a:srgbClr val="FBF8EF"/>
                    </a:solidFill>
                  </a:tcPr>
                </a:tc>
                <a:tc>
                  <a:txBody>
                    <a:bodyPr/>
                    <a:lstStyle/>
                    <a:p>
                      <a:pPr algn="r"/>
                      <a:r>
                        <a:rPr sz="1600" b="1">
                          <a:solidFill>
                            <a:srgbClr val="1A1813"/>
                          </a:solidFill>
                          <a:latin typeface="Arial"/>
                        </a:rPr>
                        <a:t>137,5</a:t>
                      </a:r>
                    </a:p>
                  </a:txBody>
                  <a:tcPr anchor="ctr">
                    <a:solidFill>
                      <a:srgbClr val="FBF8EF"/>
                    </a:solidFill>
                  </a:tcPr>
                </a:tc>
              </a:tr>
            </a:tbl>
          </a:graphicData>
        </a:graphic>
      </p:graphicFrame>
      <p:sp>
        <p:nvSpPr>
          <p:cNvPr id="5" name="Rectangle 4"/>
          <p:cNvSpPr/>
          <p:nvPr/>
        </p:nvSpPr>
        <p:spPr>
          <a:xfrm>
            <a:off x="812800" y="5397500"/>
            <a:ext cx="9398000" cy="50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400" b="0">
                <a:solidFill>
                  <a:srgbClr val="5A5547"/>
                </a:solidFill>
                <a:latin typeface="Arial"/>
              </a:rPr>
              <a:t>Hypothèses de travail, à remplacer par des devis locaux : loyer de Bonanjo, véhicules, salaires, aménagement.</a:t>
            </a:r>
          </a:p>
        </p:txBody>
      </p:sp>
      <p:sp>
        <p:nvSpPr>
          <p:cNvPr id="6" name="Rectangle 5"/>
          <p:cNvSpPr/>
          <p:nvPr/>
        </p:nvSpPr>
        <p:spPr>
          <a:xfrm>
            <a:off x="812800" y="6191250"/>
            <a:ext cx="5080000" cy="25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200" b="0">
                <a:solidFill>
                  <a:srgbClr val="5A5547"/>
                </a:solidFill>
                <a:latin typeface="Arial"/>
              </a:rPr>
              <a:t>Immo Bell · Confidentiel</a:t>
            </a:r>
          </a:p>
        </p:txBody>
      </p:sp>
      <p:pic>
        <p:nvPicPr>
          <p:cNvPr id="7" name="Picture 6" descr="logo.png"/>
          <p:cNvPicPr>
            <a:picLocks noChangeAspect="1"/>
          </p:cNvPicPr>
          <p:nvPr/>
        </p:nvPicPr>
        <p:blipFill>
          <a:blip r:embed="rId3"/>
          <a:stretch>
            <a:fillRect/>
          </a:stretch>
        </p:blipFill>
        <p:spPr>
          <a:xfrm>
            <a:off x="10617200" y="6019800"/>
            <a:ext cx="762000" cy="615950"/>
          </a:xfrm>
          <a:prstGeom prst="rect">
            <a:avLst/>
          </a:prstGeom>
        </p:spPr>
      </p:pic>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4" fill="hold"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down)">
                                      <p:cBhvr>
                                        <p:cTn id="6" dur="500"/>
                                        <p:tgtEl>
                                          <p:spTgt spid="4"/>
                                        </p:tgtEl>
                                      </p:cBhvr>
                                    </p:animEffect>
                                  </p:childTnLst>
                                </p:cTn>
                              </p:par>
                            </p:childTnLst>
                          </p:cTn>
                        </p:par>
                        <p:par>
                          <p:cTn id="8" fill="hold">
                            <p:stCondLst>
                              <p:cond delay="500"/>
                            </p:stCondLst>
                            <p:childTnLst>
                              <p:par>
                                <p:cTn id="11" presetID="10" presetClass="entr" presetSubtype="0" fill="hold" grpId="0" nodeType="after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EFE2"/>
        </a:solidFill>
        <a:effectLst/>
      </p:bgPr>
    </p:bg>
    <p:spTree>
      <p:nvGrpSpPr>
        <p:cNvPr id="1" name=""/>
        <p:cNvGrpSpPr/>
        <p:nvPr/>
      </p:nvGrpSpPr>
      <p:grpSpPr/>
      <p:sp>
        <p:nvSpPr>
          <p:cNvPr id="2" name="Rectangle 1"/>
          <p:cNvSpPr/>
          <p:nvPr/>
        </p:nvSpPr>
        <p:spPr>
          <a:xfrm>
            <a:off x="812800" y="762000"/>
            <a:ext cx="10566400" cy="25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200" b="1">
                <a:solidFill>
                  <a:srgbClr val="7A5A00"/>
                </a:solidFill>
                <a:latin typeface="Arial"/>
              </a:rPr>
              <a:t>LE CALENDRIER</a:t>
            </a:r>
          </a:p>
        </p:txBody>
      </p:sp>
      <p:sp>
        <p:nvSpPr>
          <p:cNvPr id="3" name="Rectangle 2"/>
          <p:cNvSpPr/>
          <p:nvPr/>
        </p:nvSpPr>
        <p:spPr>
          <a:xfrm>
            <a:off x="812800" y="1066800"/>
            <a:ext cx="10566400" cy="571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lnSpc>
                <a:spcPct val="95000"/>
              </a:lnSpc>
              <a:spcAft>
                <a:spcPts val="0"/>
              </a:spcAft>
            </a:pPr>
            <a:r>
              <a:rPr sz="3600" b="1">
                <a:solidFill>
                  <a:srgbClr val="1A1813"/>
                </a:solidFill>
                <a:latin typeface="Arial"/>
              </a:rPr>
              <a:t>Quatre phases sur douze mois</a:t>
            </a:r>
          </a:p>
        </p:txBody>
      </p:sp>
      <p:sp>
        <p:nvSpPr>
          <p:cNvPr id="4" name="Rounded Rectangle 3"/>
          <p:cNvSpPr/>
          <p:nvPr/>
        </p:nvSpPr>
        <p:spPr>
          <a:xfrm>
            <a:off x="812800" y="2159000"/>
            <a:ext cx="2489200" cy="2667000"/>
          </a:xfrm>
          <a:prstGeom prst="roundRect">
            <a:avLst>
              <a:gd name="adj" fmla="val 4081"/>
            </a:avLst>
          </a:prstGeom>
          <a:solidFill>
            <a:srgbClr val="FBF8EF"/>
          </a:solidFill>
          <a:ln w="9525">
            <a:solidFill>
              <a:srgbClr val="DCD4BD"/>
            </a:solidFill>
          </a:ln>
          <a:effectLst/>
        </p:spPr>
        <p:style>
          <a:lnRef idx="1">
            <a:schemeClr val="accent1"/>
          </a:lnRef>
          <a:fillRef idx="3">
            <a:schemeClr val="accent1"/>
          </a:fillRef>
          <a:effectRef idx="2">
            <a:schemeClr val="accent1"/>
          </a:effectRef>
          <a:fontRef idx="minor">
            <a:schemeClr val="lt1"/>
          </a:fontRef>
        </p:style>
        <p:txBody>
          <a:bodyPr rtlCol="0" anchor="t" wrap="square" lIns="203200" rIns="203200" tIns="203200" bIns="203200"/>
          <a:lstStyle/>
          <a:p>
            <a:pPr algn="l">
              <a:spcAft>
                <a:spcPts val="600"/>
              </a:spcAft>
            </a:pPr>
            <a:r>
              <a:rPr sz="1200" b="1">
                <a:solidFill>
                  <a:srgbClr val="7A5A00"/>
                </a:solidFill>
                <a:latin typeface="Arial"/>
              </a:rPr>
              <a:t>MOIS 0 À 2</a:t>
            </a:r>
          </a:p>
          <a:p>
            <a:pPr algn="l">
              <a:spcAft>
                <a:spcPts val="600"/>
              </a:spcAft>
            </a:pPr>
            <a:r>
              <a:rPr sz="1600" b="1">
                <a:solidFill>
                  <a:srgbClr val="1A1813"/>
                </a:solidFill>
                <a:latin typeface="Arial"/>
              </a:rPr>
              <a:t>Préparation</a:t>
            </a:r>
          </a:p>
          <a:p>
            <a:pPr algn="l">
              <a:lnSpc>
                <a:spcPct val="110000"/>
              </a:lnSpc>
              <a:spcAft>
                <a:spcPts val="0"/>
              </a:spcAft>
            </a:pPr>
            <a:r>
              <a:rPr sz="1200" b="0">
                <a:solidFill>
                  <a:srgbClr val="5A5547"/>
                </a:solidFill>
                <a:latin typeface="Arial"/>
              </a:rPr>
              <a:t>Société, local, recrutement de la direction, premiers prestataires, photos réelles.</a:t>
            </a:r>
          </a:p>
        </p:txBody>
      </p:sp>
      <p:sp>
        <p:nvSpPr>
          <p:cNvPr id="5" name="Rounded Rectangle 4"/>
          <p:cNvSpPr/>
          <p:nvPr/>
        </p:nvSpPr>
        <p:spPr>
          <a:xfrm>
            <a:off x="3505200" y="2159000"/>
            <a:ext cx="2489200" cy="2667000"/>
          </a:xfrm>
          <a:prstGeom prst="roundRect">
            <a:avLst>
              <a:gd name="adj" fmla="val 4081"/>
            </a:avLst>
          </a:prstGeom>
          <a:solidFill>
            <a:srgbClr val="FBF8EF"/>
          </a:solidFill>
          <a:ln w="9525">
            <a:solidFill>
              <a:srgbClr val="DCD4BD"/>
            </a:solidFill>
          </a:ln>
          <a:effectLst/>
        </p:spPr>
        <p:style>
          <a:lnRef idx="1">
            <a:schemeClr val="accent1"/>
          </a:lnRef>
          <a:fillRef idx="3">
            <a:schemeClr val="accent1"/>
          </a:fillRef>
          <a:effectRef idx="2">
            <a:schemeClr val="accent1"/>
          </a:effectRef>
          <a:fontRef idx="minor">
            <a:schemeClr val="lt1"/>
          </a:fontRef>
        </p:style>
        <p:txBody>
          <a:bodyPr rtlCol="0" anchor="t" wrap="square" lIns="203200" rIns="203200" tIns="203200" bIns="203200"/>
          <a:lstStyle/>
          <a:p>
            <a:pPr algn="l">
              <a:spcAft>
                <a:spcPts val="600"/>
              </a:spcAft>
            </a:pPr>
            <a:r>
              <a:rPr sz="1200" b="1">
                <a:solidFill>
                  <a:srgbClr val="7A5A00"/>
                </a:solidFill>
                <a:latin typeface="Arial"/>
              </a:rPr>
              <a:t>MOIS 3 À 5</a:t>
            </a:r>
          </a:p>
          <a:p>
            <a:pPr algn="l">
              <a:spcAft>
                <a:spcPts val="600"/>
              </a:spcAft>
            </a:pPr>
            <a:r>
              <a:rPr sz="1600" b="1">
                <a:solidFill>
                  <a:srgbClr val="1A1813"/>
                </a:solidFill>
                <a:latin typeface="Arial"/>
              </a:rPr>
              <a:t>Pilote Bonanjo et Akwa</a:t>
            </a:r>
          </a:p>
          <a:p>
            <a:pPr algn="l">
              <a:lnSpc>
                <a:spcPct val="110000"/>
              </a:lnSpc>
              <a:spcAft>
                <a:spcPts val="0"/>
              </a:spcAft>
            </a:pPr>
            <a:r>
              <a:rPr sz="1200" b="0">
                <a:solidFill>
                  <a:srgbClr val="5A5547"/>
                </a:solidFill>
                <a:latin typeface="Arial"/>
              </a:rPr>
              <a:t>20 à 50 biens, dossiers sous 72 h, urgences avec 3 à 5 prestataires.</a:t>
            </a:r>
          </a:p>
        </p:txBody>
      </p:sp>
      <p:sp>
        <p:nvSpPr>
          <p:cNvPr id="6" name="Rounded Rectangle 5"/>
          <p:cNvSpPr/>
          <p:nvPr/>
        </p:nvSpPr>
        <p:spPr>
          <a:xfrm>
            <a:off x="6197600" y="2159000"/>
            <a:ext cx="2489200" cy="2667000"/>
          </a:xfrm>
          <a:prstGeom prst="roundRect">
            <a:avLst>
              <a:gd name="adj" fmla="val 4081"/>
            </a:avLst>
          </a:prstGeom>
          <a:solidFill>
            <a:srgbClr val="FBF8EF"/>
          </a:solidFill>
          <a:ln w="9525">
            <a:solidFill>
              <a:srgbClr val="DCD4BD"/>
            </a:solidFill>
          </a:ln>
          <a:effectLst/>
        </p:spPr>
        <p:style>
          <a:lnRef idx="1">
            <a:schemeClr val="accent1"/>
          </a:lnRef>
          <a:fillRef idx="3">
            <a:schemeClr val="accent1"/>
          </a:fillRef>
          <a:effectRef idx="2">
            <a:schemeClr val="accent1"/>
          </a:effectRef>
          <a:fontRef idx="minor">
            <a:schemeClr val="lt1"/>
          </a:fontRef>
        </p:style>
        <p:txBody>
          <a:bodyPr rtlCol="0" anchor="t" wrap="square" lIns="203200" rIns="203200" tIns="203200" bIns="203200"/>
          <a:lstStyle/>
          <a:p>
            <a:pPr algn="l">
              <a:spcAft>
                <a:spcPts val="600"/>
              </a:spcAft>
            </a:pPr>
            <a:r>
              <a:rPr sz="1200" b="1">
                <a:solidFill>
                  <a:srgbClr val="7A5A00"/>
                </a:solidFill>
                <a:latin typeface="Arial"/>
              </a:rPr>
              <a:t>MOIS 6 À 9</a:t>
            </a:r>
          </a:p>
          <a:p>
            <a:pPr algn="l">
              <a:spcAft>
                <a:spcPts val="600"/>
              </a:spcAft>
            </a:pPr>
            <a:r>
              <a:rPr sz="1600" b="1">
                <a:solidFill>
                  <a:srgbClr val="1A1813"/>
                </a:solidFill>
                <a:latin typeface="Arial"/>
              </a:rPr>
              <a:t>Extension</a:t>
            </a:r>
          </a:p>
          <a:p>
            <a:pPr algn="l">
              <a:lnSpc>
                <a:spcPct val="110000"/>
              </a:lnSpc>
              <a:spcAft>
                <a:spcPts val="0"/>
              </a:spcAft>
            </a:pPr>
            <a:r>
              <a:rPr sz="1200" b="0">
                <a:solidFill>
                  <a:srgbClr val="5A5547"/>
                </a:solidFill>
                <a:latin typeface="Arial"/>
              </a:rPr>
              <a:t>Déménagements, assainissement, nouveaux quartiers, paiement Mobile Money.</a:t>
            </a:r>
          </a:p>
        </p:txBody>
      </p:sp>
      <p:sp>
        <p:nvSpPr>
          <p:cNvPr id="7" name="Rounded Rectangle 6"/>
          <p:cNvSpPr/>
          <p:nvPr/>
        </p:nvSpPr>
        <p:spPr>
          <a:xfrm>
            <a:off x="8890000" y="2159000"/>
            <a:ext cx="2489200" cy="2667000"/>
          </a:xfrm>
          <a:prstGeom prst="roundRect">
            <a:avLst>
              <a:gd name="adj" fmla="val 4081"/>
            </a:avLst>
          </a:prstGeom>
          <a:solidFill>
            <a:srgbClr val="F2B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3200" rIns="203200" tIns="203200" bIns="203200"/>
          <a:lstStyle/>
          <a:p>
            <a:pPr algn="l">
              <a:spcAft>
                <a:spcPts val="600"/>
              </a:spcAft>
            </a:pPr>
            <a:r>
              <a:rPr sz="1200" b="1">
                <a:solidFill>
                  <a:srgbClr val="1A1813"/>
                </a:solidFill>
                <a:latin typeface="Arial"/>
              </a:rPr>
              <a:t>MOIS 10 À 12</a:t>
            </a:r>
          </a:p>
          <a:p>
            <a:pPr algn="l">
              <a:spcAft>
                <a:spcPts val="600"/>
              </a:spcAft>
            </a:pPr>
            <a:r>
              <a:rPr sz="1600" b="1">
                <a:solidFill>
                  <a:srgbClr val="1A1813"/>
                </a:solidFill>
                <a:latin typeface="Arial"/>
              </a:rPr>
              <a:t>Diaspora et flotte</a:t>
            </a:r>
          </a:p>
          <a:p>
            <a:pPr algn="l">
              <a:lnSpc>
                <a:spcPct val="110000"/>
              </a:lnSpc>
              <a:spcAft>
                <a:spcPts val="0"/>
              </a:spcAft>
            </a:pPr>
            <a:r>
              <a:rPr sz="1200" b="0">
                <a:solidFill>
                  <a:srgbClr val="1A1813"/>
                </a:solidFill>
                <a:latin typeface="Arial"/>
              </a:rPr>
              <a:t>Offre Diaspora, flotte Yango, signature électronique et états des lieux numériques.</a:t>
            </a:r>
          </a:p>
        </p:txBody>
      </p:sp>
      <p:sp>
        <p:nvSpPr>
          <p:cNvPr id="8" name="Rectangle 7"/>
          <p:cNvSpPr/>
          <p:nvPr/>
        </p:nvSpPr>
        <p:spPr>
          <a:xfrm>
            <a:off x="812800" y="6191250"/>
            <a:ext cx="5080000" cy="25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200" b="0">
                <a:solidFill>
                  <a:srgbClr val="5A5547"/>
                </a:solidFill>
                <a:latin typeface="Arial"/>
              </a:rPr>
              <a:t>Immo Bell · Confidentiel</a:t>
            </a:r>
          </a:p>
        </p:txBody>
      </p:sp>
      <p:pic>
        <p:nvPicPr>
          <p:cNvPr id="9" name="Picture 8" descr="logo.png"/>
          <p:cNvPicPr>
            <a:picLocks noChangeAspect="1"/>
          </p:cNvPicPr>
          <p:nvPr/>
        </p:nvPicPr>
        <p:blipFill>
          <a:blip r:embed="rId3"/>
          <a:stretch>
            <a:fillRect/>
          </a:stretch>
        </p:blipFill>
        <p:spPr>
          <a:xfrm>
            <a:off x="10617200" y="6019800"/>
            <a:ext cx="762000" cy="6159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4"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down)">
                                      <p:cBhvr>
                                        <p:cTn id="6" dur="500"/>
                                        <p:tgtEl>
                                          <p:spTgt spid="4"/>
                                        </p:tgtEl>
                                      </p:cBhvr>
                                    </p:animEffect>
                                  </p:childTnLst>
                                </p:cTn>
                              </p:par>
                            </p:childTnLst>
                          </p:cTn>
                        </p:par>
                        <p:par>
                          <p:cTn id="8" fill="hold">
                            <p:stCondLst>
                              <p:cond delay="500"/>
                            </p:stCondLst>
                            <p:childTnLst>
                              <p:par>
                                <p:cTn id="11" presetID="22" presetClass="entr" presetSubtype="4" fill="hold" grpId="0" nodeType="after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500"/>
                                        <p:tgtEl>
                                          <p:spTgt spid="5"/>
                                        </p:tgtEl>
                                      </p:cBhvr>
                                    </p:animEffect>
                                  </p:childTnLst>
                                </p:cTn>
                              </p:par>
                            </p:childTnLst>
                          </p:cTn>
                        </p:par>
                        <p:par>
                          <p:cTn id="12" fill="hold">
                            <p:stCondLst>
                              <p:cond delay="1000"/>
                            </p:stCondLst>
                            <p:childTnLst>
                              <p:par>
                                <p:cTn id="15" presetID="22" presetClass="entr" presetSubtype="4"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down)">
                                      <p:cBhvr>
                                        <p:cTn id="14" dur="500"/>
                                        <p:tgtEl>
                                          <p:spTgt spid="6"/>
                                        </p:tgtEl>
                                      </p:cBhvr>
                                    </p:animEffect>
                                  </p:childTnLst>
                                </p:cTn>
                              </p:par>
                            </p:childTnLst>
                          </p:cTn>
                        </p:par>
                        <p:par>
                          <p:cTn id="16" fill="hold">
                            <p:stCondLst>
                              <p:cond delay="1500"/>
                            </p:stCondLst>
                            <p:childTnLst>
                              <p:par>
                                <p:cTn id="21" presetID="53" presetClass="entr" presetSubtype="16"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p:cTn id="18" dur="500" fill="hold"/>
                                        <p:tgtEl>
                                          <p:spTgt spid="7"/>
                                        </p:tgtEl>
                                        <p:attrNameLst>
                                          <p:attrName>ppt_w</p:attrName>
                                        </p:attrNameLst>
                                      </p:cBhvr>
                                      <p:tavLst>
                                        <p:tav tm="0">
                                          <p:val>
                                            <p:fltVal val="0"/>
                                          </p:val>
                                        </p:tav>
                                        <p:tav tm="100000">
                                          <p:val>
                                            <p:strVal val="#ppt_w"/>
                                          </p:val>
                                        </p:tav>
                                      </p:tavLst>
                                    </p:anim>
                                    <p:anim calcmode="lin" valueType="num">
                                      <p:cBhvr>
                                        <p:cTn id="19" dur="500" fill="hold"/>
                                        <p:tgtEl>
                                          <p:spTgt spid="7"/>
                                        </p:tgtEl>
                                        <p:attrNameLst>
                                          <p:attrName>ppt_h</p:attrName>
                                        </p:attrNameLst>
                                      </p:cBhvr>
                                      <p:tavLst>
                                        <p:tav tm="0">
                                          <p:val>
                                            <p:fltVal val="0"/>
                                          </p:val>
                                        </p:tav>
                                        <p:tav tm="100000">
                                          <p:val>
                                            <p:strVal val="#ppt_h"/>
                                          </p:val>
                                        </p:tav>
                                      </p:tavLst>
                                    </p:anim>
                                    <p:animEffect transition="in" filter="fade">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E0B"/>
        </a:solidFill>
        <a:effectLst/>
      </p:bgPr>
    </p:bg>
    <p:spTree>
      <p:nvGrpSpPr>
        <p:cNvPr id="1" name=""/>
        <p:cNvGrpSpPr/>
        <p:nvPr/>
      </p:nvGrpSpPr>
      <p:grpSpPr/>
      <p:sp>
        <p:nvSpPr>
          <p:cNvPr id="2" name="Rectangle 1"/>
          <p:cNvSpPr/>
          <p:nvPr/>
        </p:nvSpPr>
        <p:spPr>
          <a:xfrm>
            <a:off x="812800" y="762000"/>
            <a:ext cx="10566400" cy="25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200" b="1">
                <a:solidFill>
                  <a:srgbClr val="F2B000"/>
                </a:solidFill>
                <a:latin typeface="Arial"/>
              </a:rPr>
              <a:t>LA SUITE</a:t>
            </a:r>
          </a:p>
        </p:txBody>
      </p:sp>
      <p:sp>
        <p:nvSpPr>
          <p:cNvPr id="3" name="Rectangle 2"/>
          <p:cNvSpPr/>
          <p:nvPr/>
        </p:nvSpPr>
        <p:spPr>
          <a:xfrm>
            <a:off x="812800" y="1066800"/>
            <a:ext cx="10566400" cy="571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lnSpc>
                <a:spcPct val="95000"/>
              </a:lnSpc>
              <a:spcAft>
                <a:spcPts val="0"/>
              </a:spcAft>
            </a:pPr>
            <a:r>
              <a:rPr sz="3600" b="1">
                <a:solidFill>
                  <a:srgbClr val="F4EFE2"/>
                </a:solidFill>
                <a:latin typeface="Arial"/>
              </a:rPr>
              <a:t>Ce qui reste avant l’ouverture</a:t>
            </a:r>
          </a:p>
        </p:txBody>
      </p:sp>
      <p:sp>
        <p:nvSpPr>
          <p:cNvPr id="4" name="Rectangle 3"/>
          <p:cNvSpPr/>
          <p:nvPr/>
        </p:nvSpPr>
        <p:spPr>
          <a:xfrm>
            <a:off x="812800" y="2159000"/>
            <a:ext cx="5080000" cy="444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600" b="0">
                <a:solidFill>
                  <a:srgbClr val="F4EFE2"/>
                </a:solidFill>
                <a:latin typeface="Arial"/>
              </a:rPr>
              <a:t>Hébergement, domaine et sécurité</a:t>
            </a:r>
          </a:p>
        </p:txBody>
      </p:sp>
      <p:sp>
        <p:nvSpPr>
          <p:cNvPr id="5" name="Rectangle 4"/>
          <p:cNvSpPr/>
          <p:nvPr/>
        </p:nvSpPr>
        <p:spPr>
          <a:xfrm>
            <a:off x="6299200" y="2159000"/>
            <a:ext cx="5080000" cy="444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600" b="0">
                <a:solidFill>
                  <a:srgbClr val="F4EFE2"/>
                </a:solidFill>
                <a:latin typeface="Arial"/>
              </a:rPr>
              <a:t>E-mails et SMS réels</a:t>
            </a:r>
          </a:p>
        </p:txBody>
      </p:sp>
      <p:sp>
        <p:nvSpPr>
          <p:cNvPr id="6" name="Rectangle 5"/>
          <p:cNvSpPr/>
          <p:nvPr/>
        </p:nvSpPr>
        <p:spPr>
          <a:xfrm>
            <a:off x="812800" y="2794000"/>
            <a:ext cx="5080000" cy="444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600" b="0">
                <a:solidFill>
                  <a:srgbClr val="F4EFE2"/>
                </a:solidFill>
                <a:latin typeface="Arial"/>
              </a:rPr>
              <a:t>Paiement Mobile Money</a:t>
            </a:r>
          </a:p>
        </p:txBody>
      </p:sp>
      <p:sp>
        <p:nvSpPr>
          <p:cNvPr id="7" name="Rectangle 6"/>
          <p:cNvSpPr/>
          <p:nvPr/>
        </p:nvSpPr>
        <p:spPr>
          <a:xfrm>
            <a:off x="6299200" y="2794000"/>
            <a:ext cx="5080000" cy="444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600" b="0">
                <a:solidFill>
                  <a:srgbClr val="F4EFE2"/>
                </a:solidFill>
                <a:latin typeface="Arial"/>
              </a:rPr>
              <a:t>Photos réelles des biens</a:t>
            </a:r>
          </a:p>
        </p:txBody>
      </p:sp>
      <p:sp>
        <p:nvSpPr>
          <p:cNvPr id="8" name="Rectangle 7"/>
          <p:cNvSpPr/>
          <p:nvPr/>
        </p:nvSpPr>
        <p:spPr>
          <a:xfrm>
            <a:off x="812800" y="3429000"/>
            <a:ext cx="5080000" cy="444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600" b="0">
                <a:solidFill>
                  <a:srgbClr val="F4EFE2"/>
                </a:solidFill>
                <a:latin typeface="Arial"/>
              </a:rPr>
              <a:t>Relecture juridique des contrats</a:t>
            </a:r>
          </a:p>
        </p:txBody>
      </p:sp>
      <p:sp>
        <p:nvSpPr>
          <p:cNvPr id="9" name="Rectangle 8"/>
          <p:cNvSpPr/>
          <p:nvPr/>
        </p:nvSpPr>
        <p:spPr>
          <a:xfrm>
            <a:off x="6299200" y="3429000"/>
            <a:ext cx="5080000" cy="444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600" b="0">
                <a:solidFill>
                  <a:srgbClr val="F4EFE2"/>
                </a:solidFill>
                <a:latin typeface="Arial"/>
              </a:rPr>
              <a:t>Étude de marché locale</a:t>
            </a:r>
          </a:p>
        </p:txBody>
      </p:sp>
      <p:sp>
        <p:nvSpPr>
          <p:cNvPr id="10" name="Rectangle 9"/>
          <p:cNvSpPr/>
          <p:nvPr/>
        </p:nvSpPr>
        <p:spPr>
          <a:xfrm>
            <a:off x="812800" y="5080000"/>
            <a:ext cx="10566400" cy="508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2200" b="1">
                <a:solidFill>
                  <a:srgbClr val="F2B000"/>
                </a:solidFill>
                <a:latin typeface="Arial"/>
              </a:rPr>
              <a:t>Place à la démonstration en direct</a:t>
            </a:r>
          </a:p>
        </p:txBody>
      </p:sp>
      <p:sp>
        <p:nvSpPr>
          <p:cNvPr id="11" name="Rectangle 10"/>
          <p:cNvSpPr/>
          <p:nvPr/>
        </p:nvSpPr>
        <p:spPr>
          <a:xfrm>
            <a:off x="812800" y="6191250"/>
            <a:ext cx="5080000" cy="254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200" b="0">
                <a:solidFill>
                  <a:srgbClr val="BDB6A3"/>
                </a:solidFill>
                <a:latin typeface="Arial"/>
              </a:rPr>
              <a:t>Immo Bell · Confidentiel</a:t>
            </a:r>
          </a:p>
        </p:txBody>
      </p:sp>
      <p:pic>
        <p:nvPicPr>
          <p:cNvPr id="12" name="Picture 11" descr="logo-light.png"/>
          <p:cNvPicPr>
            <a:picLocks noChangeAspect="1"/>
          </p:cNvPicPr>
          <p:nvPr/>
        </p:nvPicPr>
        <p:blipFill>
          <a:blip r:embed="rId3"/>
          <a:stretch>
            <a:fillRect/>
          </a:stretch>
        </p:blipFill>
        <p:spPr>
          <a:xfrm>
            <a:off x="10617200" y="6019800"/>
            <a:ext cx="762000" cy="6159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500"/>
                                        <p:tgtEl>
                                          <p:spTgt spid="4"/>
                                        </p:tgtEl>
                                      </p:cBhvr>
                                    </p:animEffect>
                                  </p:childTnLst>
                                </p:cTn>
                              </p:par>
                            </p:childTnLst>
                          </p:cTn>
                        </p:par>
                        <p:par>
                          <p:cTn id="8" fill="hold">
                            <p:stCondLst>
                              <p:cond delay="500"/>
                            </p:stCondLst>
                            <p:childTnLst>
                              <p:par>
                                <p:cTn id="11" presetID="10" presetClass="entr" presetSubtype="0" fill="hold" grpId="0" nodeType="after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par>
                          <p:cTn id="12" fill="hold">
                            <p:stCondLst>
                              <p:cond delay="1000"/>
                            </p:stCondLst>
                            <p:childTnLst>
                              <p:par>
                                <p:cTn id="15" presetID="10" presetClass="entr" presetSubtype="0"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par>
                          <p:cTn id="16" fill="hold">
                            <p:stCondLst>
                              <p:cond delay="1500"/>
                            </p:stCondLst>
                            <p:childTnLst>
                              <p:par>
                                <p:cTn id="19" presetID="10"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par>
                          <p:cTn id="20" fill="hold">
                            <p:stCondLst>
                              <p:cond delay="2000"/>
                            </p:stCondLst>
                            <p:childTnLst>
                              <p:par>
                                <p:cTn id="23" presetID="10" presetClass="entr" presetSubtype="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par>
                          <p:cTn id="24" fill="hold">
                            <p:stCondLst>
                              <p:cond delay="2500"/>
                            </p:stCondLst>
                            <p:childTnLst>
                              <p:par>
                                <p:cTn id="27" presetID="10" presetClass="entr" presetSubtype="0" fill="hold" grpId="0"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par>
                          <p:cTn id="28" fill="hold">
                            <p:stCondLst>
                              <p:cond delay="3000"/>
                            </p:stCondLst>
                            <p:childTnLst>
                              <p:par>
                                <p:cTn id="33" presetID="53" presetClass="entr" presetSubtype="16" fill="hold" grpId="0" nodeType="after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p:cTn id="30" dur="500" fill="hold"/>
                                        <p:tgtEl>
                                          <p:spTgt spid="10"/>
                                        </p:tgtEl>
                                        <p:attrNameLst>
                                          <p:attrName>ppt_w</p:attrName>
                                        </p:attrNameLst>
                                      </p:cBhvr>
                                      <p:tavLst>
                                        <p:tav tm="0">
                                          <p:val>
                                            <p:fltVal val="0"/>
                                          </p:val>
                                        </p:tav>
                                        <p:tav tm="100000">
                                          <p:val>
                                            <p:strVal val="#ppt_w"/>
                                          </p:val>
                                        </p:tav>
                                      </p:tavLst>
                                    </p:anim>
                                    <p:anim calcmode="lin" valueType="num">
                                      <p:cBhvr>
                                        <p:cTn id="31" dur="500" fill="hold"/>
                                        <p:tgtEl>
                                          <p:spTgt spid="10"/>
                                        </p:tgtEl>
                                        <p:attrNameLst>
                                          <p:attrName>ppt_h</p:attrName>
                                        </p:attrNameLst>
                                      </p:cBhvr>
                                      <p:tavLst>
                                        <p:tav tm="0">
                                          <p:val>
                                            <p:fltVal val="0"/>
                                          </p:val>
                                        </p:tav>
                                        <p:tav tm="100000">
                                          <p:val>
                                            <p:strVal val="#ppt_h"/>
                                          </p:val>
                                        </p:tav>
                                      </p:tavLst>
                                    </p:anim>
                                    <p:animEffect transition="in" filter="fade">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E0B"/>
        </a:solidFill>
        <a:effectLst/>
      </p:bgPr>
    </p:bg>
    <p:spTree>
      <p:nvGrpSpPr>
        <p:cNvPr id="1" name=""/>
        <p:cNvGrpSpPr/>
        <p:nvPr/>
      </p:nvGrpSpPr>
      <p:grpSpPr/>
      <p:pic>
        <p:nvPicPr>
          <p:cNvPr id="2" name="Picture 1" descr="logo-light.png"/>
          <p:cNvPicPr>
            <a:picLocks noChangeAspect="1"/>
          </p:cNvPicPr>
          <p:nvPr/>
        </p:nvPicPr>
        <p:blipFill>
          <a:blip r:embed="rId3"/>
          <a:stretch>
            <a:fillRect/>
          </a:stretch>
        </p:blipFill>
        <p:spPr>
          <a:xfrm>
            <a:off x="812800" y="533400"/>
            <a:ext cx="1206500" cy="977900"/>
          </a:xfrm>
          <a:prstGeom prst="rect">
            <a:avLst/>
          </a:prstGeom>
        </p:spPr>
      </p:pic>
      <p:sp>
        <p:nvSpPr>
          <p:cNvPr id="3" name="Rectangle 2"/>
          <p:cNvSpPr/>
          <p:nvPr/>
        </p:nvSpPr>
        <p:spPr>
          <a:xfrm>
            <a:off x="812800" y="2159000"/>
            <a:ext cx="10566400" cy="1397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8000" b="1">
                <a:solidFill>
                  <a:srgbClr val="F4EFE2"/>
                </a:solidFill>
                <a:latin typeface="Arial"/>
              </a:rPr>
              <a:t>Merci</a:t>
            </a:r>
          </a:p>
        </p:txBody>
      </p:sp>
      <p:sp>
        <p:nvSpPr>
          <p:cNvPr id="4" name="Rectangle 3"/>
          <p:cNvSpPr/>
          <p:nvPr/>
        </p:nvSpPr>
        <p:spPr>
          <a:xfrm>
            <a:off x="812800" y="3619500"/>
            <a:ext cx="1270000" cy="50800"/>
          </a:xfrm>
          <a:prstGeom prst="rect">
            <a:avLst/>
          </a:prstGeom>
          <a:solidFill>
            <a:srgbClr val="F2B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ctr"/>
          </a:p>
        </p:txBody>
      </p:sp>
      <p:sp>
        <p:nvSpPr>
          <p:cNvPr id="5" name="Rectangle 4"/>
          <p:cNvSpPr/>
          <p:nvPr/>
        </p:nvSpPr>
        <p:spPr>
          <a:xfrm>
            <a:off x="812800" y="3937000"/>
            <a:ext cx="9525000" cy="76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2200" b="0">
                <a:solidFill>
                  <a:srgbClr val="BDB6A3"/>
                </a:solidFill>
                <a:latin typeface="Arial"/>
              </a:rPr>
              <a:t>Place à vos questions et à la démonstration en direct.</a:t>
            </a:r>
          </a:p>
        </p:txBody>
      </p:sp>
      <p:sp>
        <p:nvSpPr>
          <p:cNvPr id="6" name="Rectangle 5"/>
          <p:cNvSpPr/>
          <p:nvPr/>
        </p:nvSpPr>
        <p:spPr>
          <a:xfrm>
            <a:off x="812800" y="5397500"/>
            <a:ext cx="9525000" cy="825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0" rIns="0" tIns="0" bIns="0"/>
          <a:lstStyle/>
          <a:p>
            <a:pPr algn="l">
              <a:spcAft>
                <a:spcPts val="0"/>
              </a:spcAft>
            </a:pPr>
            <a:r>
              <a:rPr sz="1600" b="0">
                <a:solidFill>
                  <a:srgbClr val="F4EFE2"/>
                </a:solidFill>
                <a:latin typeface="Arial"/>
              </a:rPr>
              <a:t>contact@immobell.cm</a:t>
            </a:r>
          </a:p>
          <a:p>
            <a:pPr algn="l">
              <a:spcAft>
                <a:spcPts val="0"/>
              </a:spcAft>
            </a:pPr>
            <a:r>
              <a:rPr sz="1600" b="0">
                <a:solidFill>
                  <a:srgbClr val="F4EFE2"/>
                </a:solidFill>
                <a:latin typeface="Arial"/>
              </a:rPr>
              <a:t>Bonanjo, Douala · Service après-vente de 8 h à 18 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nodeType="afterEffect">
                                  <p:stCondLst>
                                    <p:cond delay="0"/>
                                  </p:stCondLst>
                                  <p:childTnLst>
                                    <p:set>
                                      <p:cBhvr>
                                        <p:cTn id="5" dur="1" fill="hold">
                                          <p:stCondLst>
                                            <p:cond delay="0"/>
                                          </p:stCondLst>
                                        </p:cTn>
                                        <p:tgtEl>
                                          <p:spTgt spid="2"/>
                                        </p:tgtEl>
                                        <p:attrNameLst>
                                          <p:attrName>style.visibility</p:attrName>
                                        </p:attrNameLst>
                                      </p:cBhvr>
                                      <p:to>
                                        <p:strVal val="visible"/>
                                      </p:to>
                                    </p:set>
                                    <p:animEffect transition="in" filter="fade">
                                      <p:cBhvr>
                                        <p:cTn id="6" dur="500"/>
                                        <p:tgtEl>
                                          <p:spTgt spid="2"/>
                                        </p:tgtEl>
                                      </p:cBhvr>
                                    </p:animEffect>
                                  </p:childTnLst>
                                </p:cTn>
                              </p:par>
                            </p:childTnLst>
                          </p:cTn>
                        </p:par>
                        <p:par>
                          <p:cTn id="8" fill="hold">
                            <p:stCondLst>
                              <p:cond delay="500"/>
                            </p:stCondLst>
                            <p:childTnLst>
                              <p:par>
                                <p:cTn id="11" presetID="22" presetClass="entr" presetSubtype="4" fill="hold" grpId="0" nodeType="after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childTnLst>
                          </p:cTn>
                        </p:par>
                        <p:par>
                          <p:cTn id="12" fill="hold">
                            <p:stCondLst>
                              <p:cond delay="1000"/>
                            </p:stCondLst>
                            <p:childTnLst>
                              <p:par>
                                <p:cTn id="15" presetID="22" presetClass="entr" presetSubtype="8"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left)">
                                      <p:cBhvr>
                                        <p:cTn id="14" dur="500"/>
                                        <p:tgtEl>
                                          <p:spTgt spid="4"/>
                                        </p:tgtEl>
                                      </p:cBhvr>
                                    </p:animEffect>
                                  </p:childTnLst>
                                </p:cTn>
                              </p:par>
                            </p:childTnLst>
                          </p:cTn>
                        </p:par>
                        <p:par>
                          <p:cTn id="16" fill="hold">
                            <p:stCondLst>
                              <p:cond delay="1500"/>
                            </p:stCondLst>
                            <p:childTnLst>
                              <p:par>
                                <p:cTn id="19" presetID="22" presetClass="entr" presetSubtype="4"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ipe(down)">
                                      <p:cBhvr>
                                        <p:cTn id="18" dur="500"/>
                                        <p:tgtEl>
                                          <p:spTgt spid="5"/>
                                        </p:tgtEl>
                                      </p:cBhvr>
                                    </p:animEffect>
                                  </p:childTnLst>
                                </p:cTn>
                              </p:par>
                            </p:childTnLst>
                          </p:cTn>
                        </p:par>
                        <p:par>
                          <p:cTn id="20" fill="hold">
                            <p:stCondLst>
                              <p:cond delay="2000"/>
                            </p:stCondLst>
                            <p:childTnLst>
                              <p:par>
                                <p:cTn id="23" presetID="10"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