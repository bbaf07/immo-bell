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A1813"/>
                </a:solidFill>
                <a:latin typeface="Arial"/>
              </a:rPr>
              <a:t>Commission en % du loyer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Immo Bell</c:v>
                </c:pt>
              </c:strCache>
            </c:strRef>
          </c:tx>
          <c:spPr>
            <a:solidFill>
              <a:srgbClr val="F2B000"/>
            </a:solidFill>
          </c:spPr>
          <c:cat>
            <c:strRef>
              <c:f>Sheet1!$A$2:$A$4</c:f>
              <c:strCache>
                <c:ptCount val="3"/>
                <c:pt idx="0">
                  <c:v>Essentiel</c:v>
                </c:pt>
                <c:pt idx="1">
                  <c:v>Confort</c:v>
                </c:pt>
                <c:pt idx="2">
                  <c:v>Premium Diaspora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12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Marché (bas)</c:v>
                </c:pt>
              </c:strCache>
            </c:strRef>
          </c:tx>
          <c:spPr>
            <a:solidFill>
              <a:srgbClr val="8A8372"/>
            </a:solidFill>
          </c:spPr>
          <c:cat>
            <c:strRef>
              <c:f>Sheet1!$A$2:$A$4</c:f>
              <c:strCache>
                <c:ptCount val="3"/>
                <c:pt idx="0">
                  <c:v>Essentiel</c:v>
                </c:pt>
                <c:pt idx="1">
                  <c:v>Confort</c:v>
                </c:pt>
                <c:pt idx="2">
                  <c:v>Premium Diaspora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Marché (haut)</c:v>
                </c:pt>
              </c:strCache>
            </c:strRef>
          </c:tx>
          <c:spPr>
            <a:solidFill>
              <a:srgbClr val="1A1813"/>
            </a:solidFill>
          </c:spPr>
          <c:cat>
            <c:strRef>
              <c:f>Sheet1!$A$2:$A$4</c:f>
              <c:strCache>
                <c:ptCount val="3"/>
                <c:pt idx="0">
                  <c:v>Essentiel</c:v>
                </c:pt>
                <c:pt idx="1">
                  <c:v>Confort</c:v>
                </c:pt>
                <c:pt idx="2">
                  <c:v>Premium Diaspora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</c:v>
                </c:pt>
                <c:pt idx="1">
                  <c:v>15</c:v>
                </c:pt>
                <c:pt idx="2">
                  <c:v>25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D4BD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>
          <c:spPr>
            <a:ln>
              <a:solidFill>
                <a:srgbClr val="DCD4B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300">
          <a:solidFill>
            <a:srgbClr val="1A181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A1813"/>
                </a:solidFill>
                <a:latin typeface="Arial"/>
              </a:rPr>
              <a:t>Contrats signés cumulés (objectif)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Contrats cumulés</c:v>
                </c:pt>
              </c:strCache>
            </c:strRef>
          </c:tx>
          <c:spPr>
            <a:ln w="38100">
              <a:solidFill>
                <a:srgbClr val="F2B000"/>
              </a:solidFill>
            </a:ln>
          </c:spPr>
          <c:marker>
            <c:spPr>
              <a:solidFill>
                <a:srgbClr val="F2B000"/>
              </a:solidFill>
              <a:ln>
                <a:solidFill>
                  <a:srgbClr val="F2B00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S2 · Recenser</c:v>
                </c:pt>
                <c:pt idx="1">
                  <c:v>S6 · Acquisition</c:v>
                </c:pt>
                <c:pt idx="2">
                  <c:v>S9 · Montée en gamme</c:v>
                </c:pt>
                <c:pt idx="3">
                  <c:v>S12 · Conversion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30</c:v>
                </c:pt>
                <c:pt idx="2">
                  <c:v>50</c:v>
                </c:pt>
                <c:pt idx="3">
                  <c:v>100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D4BD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0.0"/>
          <c:min val="0.0"/>
        </c:scaling>
        <c:delete val="0"/>
        <c:axPos val="l"/>
        <c:majorGridlines>
          <c:spPr>
            <a:ln>
              <a:solidFill>
                <a:srgbClr val="DCD4B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300">
          <a:solidFill>
            <a:srgbClr val="1A181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A1813"/>
                </a:solidFill>
                <a:latin typeface="Arial"/>
              </a:rPr>
              <a:t>Entonnoir de conversion sur 5 mois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rgbClr val="F2B000"/>
            </a:solidFill>
          </c:spPr>
          <c:cat>
            <c:strRef>
              <c:f>Sheet1!$A$2:$A$5</c:f>
              <c:strCache>
                <c:ptCount val="4"/>
                <c:pt idx="0">
                  <c:v>Contrats signés</c:v>
                </c:pt>
                <c:pt idx="1">
                  <c:v>Rendez-vous ou visites</c:v>
                </c:pt>
                <c:pt idx="2">
                  <c:v>Contacts sérieux</c:v>
                </c:pt>
                <c:pt idx="3">
                  <c:v>Messages reçus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28</c:v>
                </c:pt>
                <c:pt idx="2">
                  <c:v>56</c:v>
                </c:pt>
                <c:pt idx="3">
                  <c:v>140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CD4BD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0"/>
          <c:min val="0.0"/>
        </c:scaling>
        <c:delete val="0"/>
        <c:axPos val="b"/>
        <c:majorGridlines>
          <c:spPr>
            <a:ln>
              <a:solidFill>
                <a:srgbClr val="DCD4B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300">
          <a:solidFill>
            <a:srgbClr val="1A181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A1813"/>
                </a:solidFill>
                <a:latin typeface="Arial"/>
              </a:rPr>
              <a:t>Loyer mensuel (F) : capacité et loyers testés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Montant (F)</c:v>
                </c:pt>
              </c:strCache>
            </c:strRef>
          </c:tx>
          <c:spPr>
            <a:solidFill>
              <a:srgbClr val="F2B000"/>
            </a:solidFill>
          </c:spPr>
          <c:cat>
            <c:strRef>
              <c:f>Sheet1!$A$2:$A$4</c:f>
              <c:strCache>
                <c:ptCount val="3"/>
                <c:pt idx="0">
                  <c:v>Capacité maximale (500 000 ÷ 3)</c:v>
                </c:pt>
                <c:pt idx="1">
                  <c:v>Loyer 150 000 F : accepté</c:v>
                </c:pt>
                <c:pt idx="2">
                  <c:v>Loyer 200 000 F : refusé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166667</c:v>
                </c:pt>
                <c:pt idx="1">
                  <c:v>150000</c:v>
                </c:pt>
                <c:pt idx="2">
                  <c:v>200000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D4BD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000.0"/>
          <c:min val="0.0"/>
        </c:scaling>
        <c:delete val="0"/>
        <c:axPos val="l"/>
        <c:majorGridlines>
          <c:spPr>
            <a:ln>
              <a:solidFill>
                <a:srgbClr val="DCD4B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300">
          <a:solidFill>
            <a:srgbClr val="1A181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A1813"/>
                </a:solidFill>
                <a:latin typeface="Arial"/>
              </a:rPr>
              <a:t>Actions cumulées : prévu et réalisé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Prévu (6 actions)</c:v>
                </c:pt>
              </c:strCache>
            </c:strRef>
          </c:tx>
          <c:spPr>
            <a:ln w="38100">
              <a:solidFill>
                <a:srgbClr val="1A1813"/>
              </a:solidFill>
            </a:ln>
          </c:spPr>
          <c:marker>
            <c:spPr>
              <a:solidFill>
                <a:srgbClr val="1A1813"/>
              </a:solidFill>
              <a:ln>
                <a:solidFill>
                  <a:srgbClr val="1A1813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07/09</c:v>
                </c:pt>
                <c:pt idx="1">
                  <c:v>11/09</c:v>
                </c:pt>
                <c:pt idx="2">
                  <c:v>13/09</c:v>
                </c:pt>
                <c:pt idx="3">
                  <c:v>14/09</c:v>
                </c:pt>
                <c:pt idx="4">
                  <c:v>30/10</c:v>
                </c:pt>
                <c:pt idx="5">
                  <c:v>01/01/27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ln w="38100">
              <a:solidFill>
                <a:srgbClr val="F2B000"/>
              </a:solidFill>
            </a:ln>
          </c:spPr>
          <c:marker>
            <c:spPr>
              <a:solidFill>
                <a:srgbClr val="F2B000"/>
              </a:solidFill>
              <a:ln>
                <a:solidFill>
                  <a:srgbClr val="F2B000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07/09</c:v>
                </c:pt>
                <c:pt idx="1">
                  <c:v>11/09</c:v>
                </c:pt>
                <c:pt idx="2">
                  <c:v>13/09</c:v>
                </c:pt>
                <c:pt idx="3">
                  <c:v>14/09</c:v>
                </c:pt>
                <c:pt idx="4">
                  <c:v>30/10</c:v>
                </c:pt>
                <c:pt idx="5">
                  <c:v>01/01/27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D4BD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.0"/>
          <c:min val="0.0"/>
        </c:scaling>
        <c:delete val="0"/>
        <c:axPos val="l"/>
        <c:majorGridlines>
          <c:spPr>
            <a:ln>
              <a:solidFill>
                <a:srgbClr val="DCD4B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300"/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300">
          <a:solidFill>
            <a:srgbClr val="1A181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1A1813"/>
                </a:solidFill>
                <a:latin typeface="Arial"/>
              </a:rPr>
              <a:t>Origine visée des 100 contrats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Contrats</c:v>
                </c:pt>
              </c:strCache>
            </c:strRef>
          </c:tx>
          <c:dPt>
            <c:idx val="0"/>
            <c:spPr>
              <a:solidFill>
                <a:srgbClr val="1A1813"/>
              </a:solidFill>
            </c:spPr>
          </c:dPt>
          <c:dPt>
            <c:idx val="1"/>
            <c:spPr>
              <a:solidFill>
                <a:srgbClr val="F2B000"/>
              </a:solidFill>
            </c:spPr>
          </c:dPt>
          <c:cat>
            <c:strRef>
              <c:f>Sheet1!$A$2:$A$3</c:f>
              <c:strCache>
                <c:ptCount val="2"/>
                <c:pt idx="0">
                  <c:v>Réseaux sociaux</c:v>
                </c:pt>
                <c:pt idx="1">
                  <c:v>Terrain et partenaires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89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 b="1">
                  <a:solidFill>
                    <a:srgbClr val="1A181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300"/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300">
          <a:solidFill>
            <a:srgbClr val="1A1813"/>
          </a:solidFill>
          <a:latin typeface="Arial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: voici l’essentiel pour la direction. Un objectif de 100 contrats et 50 M FCFA, atteint sans publicité payante, grâce à cinq pôles qui s’enchaînent. Les chiffres viennent de la présentation de synthèse ; le site et la démonstration illustrent l’outil.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Immo Bell enchaîne cinq métiers : offrir, faire connaître, sécuriser, suivre et livrer. Les slides suivantes détaillent chacun d’eux. Commençons par l’offre, au cœur du pôle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pôle Marketing structure l’entreprise autour d’une activité première, l’immobilier, et de trois activités qui la renforcent. Voyons comment l’immobilier se vend : les trois packs.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packs sans remise, pensés par profil de propriétaire. Leur commission se situe dans la fourchette du marché ou en dessous. Reste à transformer ces packs en 100 contrats signés. Le site de démonstration utilise les noms Basic, Standard, Premium et Diaspora : à aligner.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trajectoire est organique : recensement du Canton Bell, notaires, contenus preuve et parrainage, sans publicité. Pour faire connaître l’offre, place à la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crée une fois, on republie partout. Trois réseaux principaux, deux en reprise, et des outils gratuits : Canva, CapCut, WhatsApp Business. Mesurons ce que ces réseaux doivent rapporter.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 cinq mois, 25 000 personnes touchées doivent produire 140 messages, dont des contacts sérieux, puis 11 contrats signés. Pour tenir ces chiffres, il faut un pilotage régulier.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jour a son rendez-vous éditorial : conseil, bien du mardi, preuve, question, offre, coulisses. Trois réunions et des réflexes de crise cadrent le tout. Une fois les contacts générés, il faut sécuriser les dossiers.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pôle juridique étudie chaque dossier de location, ou de fonds de commerce, avant toute signature. Regardons comment la solvabilité est mesurée.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Règle : le loyer ne doit pas dépasser le tiers du revenu mensuel net. Exemple avec un demandeur à 6 000 000 F de revenus par an. Le simulateur du site applique cette règle automatiquement.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l’entrée en relation aux cas particuliers, chaque étape a un responsable identifié. Le dossier validé passe ensuite à l’administration. Le site de démonstration montre ce parcours à l’écran.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Démonstration en direct possible : « Mon espace », puis un clic sur l’un des cinq profils. Les profils de démonstration enregistrent leurs actions dans le navigateur ; ce ne sont pas de vrais comptes. Le serveur réel gère de vrais comptes avec des droits contrôlés côté serveur.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Étapes affichées au client dans son tableau de bord. Le pôle juridique décide sous 72 h ; l’administration voit les délais qui approchent. La solvabilité est testée automatiquement avec la règle du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Mots de passe hachés, sessions par cookie signé, limitation des tentatives de connexion. Ces règles sont vérifiées par des tests automatiques. Un audit indépendant n’a pas encore été fait : ne pas l’affirmer.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pôle suit chaque bail : contrôle des pièces, relances, transmission, et escalade dès qu’un point bloque. Détaillons les dossiers et le support RH.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contrat se clôt par trois signatures : état des lieux, bail, lettre d’engagement et déclaration sur l’honneur. Place maintenant à la livraison des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Douala 1er, les moyens logistiques ne sont pas intégrés au Canton Bell : le pôle Transport comble ce manque. Voyons les tarifs de ces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prix des services annexes sont fixés pour rassurer une clientèle de meublés et de cadres, sans viser le low-cost. Quelle est l’avancée de la roadmap ? Le site propose trois formules de déménagement sans tarif : à aligner avec ces prix.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roadmap avance : trois actions sur six sont faites, et le lancement de la flotte est fixé au 1er janvier 2027. Regardons les activités complémentaires : formation, maintenance, mécénat.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leviers à coût quasi nul renforcent l’offre immobilière et créent des revenus récurrents. Faisons le point sur les moyens à mobiliser.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pôle demande peu de ressources, avec 0 F de publicité sur toute la période. Quelques écarts entre pôles sont encore à aligner.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réseaux ne portent qu’un dixième de l’objectif : le terrain et les partenaires font le reste. Quatre écarts sont à aligner. Moyens : 0 F de publicité, 12 h par semaine, 2 Yaris, analystes en CDD.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écarts apparaissent en comparant la présentation de synthèse avec le site, les rapports et la démonstration. Ils sont à arbitrer entre associés avant la présentation aux investisseurs : aucun n’a été tranché à la place de l’équipe.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niveaux de lancement coexistent dans les documents. La synthèse de direction décrit un lancement léger (0 F de publicité, quelques personnes). Le rapport n° 2 chiffre une agence complète avec des hypothèses que j’ai estimées moi-même, sans devis. À arbitrer entre associés : quel périmètre présenter aux investisseurs.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Remercier les investisseurs pour leur temps, puis ouvrir les questions et lancer la démonstration. Garder sous la main le rapport n° 2 pour les chiffres et le guide de démonstration pour les comptes fictifs.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5.xml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6.xml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533400"/>
            <a:ext cx="1206500" cy="977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2800" y="1752600"/>
            <a:ext cx="1270000" cy="50800"/>
          </a:xfrm>
          <a:prstGeom prst="rect">
            <a:avLst/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0" y="2032000"/>
            <a:ext cx="10160000" cy="15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5500" b="1">
                <a:solidFill>
                  <a:srgbClr val="F4EFE2"/>
                </a:solidFill>
                <a:latin typeface="Arial"/>
              </a:rPr>
              <a:t>Synthèse de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3556000"/>
            <a:ext cx="99060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BDB6A3"/>
                </a:solidFill>
                <a:latin typeface="Arial"/>
              </a:rPr>
              <a:t>Cinq pôles, une même chaîne : offrir, faire connaître, sécuriser, suivre et livrer.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4826000"/>
            <a:ext cx="2413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B000"/>
                </a:solidFill>
                <a:latin typeface="Arial"/>
              </a:rPr>
              <a:t>100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DB6A3"/>
                </a:solidFill>
                <a:latin typeface="Arial"/>
              </a:rPr>
              <a:t>contrats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9800" y="4826000"/>
            <a:ext cx="2413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B000"/>
                </a:solidFill>
                <a:latin typeface="Arial"/>
              </a:rPr>
              <a:t>50 M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DB6A3"/>
                </a:solidFill>
                <a:latin typeface="Arial"/>
              </a:rPr>
              <a:t>FCFA visés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6800" y="4826000"/>
            <a:ext cx="2413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B000"/>
                </a:solidFill>
                <a:latin typeface="Arial"/>
              </a:rPr>
              <a:t>0 F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DB6A3"/>
                </a:solidFill>
                <a:latin typeface="Arial"/>
              </a:rPr>
              <a:t>de publicité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8813800" y="4826000"/>
            <a:ext cx="2413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B000"/>
                </a:solidFill>
                <a:latin typeface="Arial"/>
              </a:rPr>
              <a:t>5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DB6A3"/>
                </a:solidFill>
                <a:latin typeface="Arial"/>
              </a:rPr>
              <a:t>pôles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5000" y="6248400"/>
            <a:ext cx="444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DB6A3"/>
                </a:solidFill>
                <a:latin typeface="Arial"/>
              </a:rPr>
              <a:t>OCTOBRE 2026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VUE D’ENSEMBLE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Cinq pôles, une chaîne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Immo Bell enchaîne cinq métiers : offrir, faire connaître, sécuriser, suivre et livrer.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1991360" cy="2413000"/>
          </a:xfrm>
          <a:prstGeom prst="roundRect">
            <a:avLst>
              <a:gd name="adj" fmla="val 510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Marketing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Définit l’offre, les prix et les leviers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56560" y="2540000"/>
            <a:ext cx="1991360" cy="2413000"/>
          </a:xfrm>
          <a:prstGeom prst="roundRect">
            <a:avLst>
              <a:gd name="adj" fmla="val 510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Communication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Fait connaître sans publicité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00320" y="2540000"/>
            <a:ext cx="1991360" cy="2413000"/>
          </a:xfrm>
          <a:prstGeom prst="roundRect">
            <a:avLst>
              <a:gd name="adj" fmla="val 510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Juridique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Sécurise chaque dossier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44080" y="2540000"/>
            <a:ext cx="1991360" cy="2413000"/>
          </a:xfrm>
          <a:prstGeom prst="roundRect">
            <a:avLst>
              <a:gd name="adj" fmla="val 510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Admin &amp; RH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Suit les baux et le personnel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87840" y="2540000"/>
            <a:ext cx="1991360" cy="2413000"/>
          </a:xfrm>
          <a:prstGeom prst="roundRect">
            <a:avLst>
              <a:gd name="adj" fmla="val 5102"/>
            </a:avLst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5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Transport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A1813"/>
                </a:solidFill>
                <a:latin typeface="Arial"/>
              </a:rPr>
              <a:t>Livre déménagement et mobilité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1 · L’OFFRE · MARKETING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Quatre activités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Une activité première, l’immobilier, et trois activités qui la renforcent.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413000"/>
            <a:ext cx="5181600" cy="1587500"/>
          </a:xfrm>
          <a:prstGeom prst="roundRect">
            <a:avLst>
              <a:gd name="adj" fmla="val 64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A1813"/>
                </a:solidFill>
                <a:latin typeface="Arial"/>
              </a:rPr>
              <a:t>Immobilier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Activité première : location, meublés, terrains, fonds de commerce.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7600" y="2413000"/>
            <a:ext cx="5181600" cy="1587500"/>
          </a:xfrm>
          <a:prstGeom prst="roundRect">
            <a:avLst>
              <a:gd name="adj" fmla="val 64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A1813"/>
                </a:solidFill>
                <a:latin typeface="Arial"/>
              </a:rPr>
              <a:t>Logistique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Déménagements, VTC et achat international, par exemple en 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4152900"/>
            <a:ext cx="5181600" cy="1587500"/>
          </a:xfrm>
          <a:prstGeom prst="roundRect">
            <a:avLst>
              <a:gd name="adj" fmla="val 64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A1813"/>
                </a:solidFill>
                <a:latin typeface="Arial"/>
              </a:rPr>
              <a:t>Formation hôtelière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Accueil, restauration, hébergement et gestion.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7600" y="4152900"/>
            <a:ext cx="5181600" cy="1587500"/>
          </a:xfrm>
          <a:prstGeom prst="roundRect">
            <a:avLst>
              <a:gd name="adj" fmla="val 64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A1813"/>
                </a:solidFill>
                <a:latin typeface="Arial"/>
              </a:rPr>
              <a:t>Maintenance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Suivi préventif et urgences 24 h des appareils électriques.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1 · L’OFFRE · MARKETING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Des packs sous le marché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Trois packs sans remise, pensés par profil de propriétaire. Leur commission se situe dans la fourchette du marché ou en dessous.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6350000" cy="3429000"/>
          </a:xfrm>
          <a:prstGeom prst="roundRect">
            <a:avLst>
              <a:gd name="adj" fmla="val 296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76300" y="2603500"/>
          <a:ext cx="6223000" cy="330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29500" y="2540000"/>
            <a:ext cx="3949700" cy="1587500"/>
          </a:xfrm>
          <a:prstGeom prst="roundRect">
            <a:avLst>
              <a:gd name="adj" fmla="val 64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8 %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A5547"/>
                </a:solidFill>
                <a:latin typeface="Arial"/>
              </a:rPr>
              <a:t>Essentiel : quittances, relance impayés J+3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29500" y="4318000"/>
            <a:ext cx="3949700" cy="1651000"/>
          </a:xfrm>
          <a:prstGeom prst="roundRect">
            <a:avLst>
              <a:gd name="adj" fmla="val 6153"/>
            </a:avLst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813"/>
                </a:solidFill>
                <a:latin typeface="Arial"/>
              </a:rPr>
              <a:t>18 % + 25 000 F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A1813"/>
                </a:solidFill>
                <a:latin typeface="Arial"/>
              </a:rPr>
              <a:t>Premium Diaspora : rapport vidéo, visio, bail avocat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1 · L’OFFRE · MARKETING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100 contrats en 12 semaines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La trajectoire est organique : recensement du Canton Bell, notaires, contenus preuve et parrainage, sans publicité.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6350000" cy="3429000"/>
          </a:xfrm>
          <a:prstGeom prst="roundRect">
            <a:avLst>
              <a:gd name="adj" fmla="val 296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76300" y="2603500"/>
          <a:ext cx="6223000" cy="330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29500" y="2540000"/>
            <a:ext cx="3949700" cy="1587500"/>
          </a:xfrm>
          <a:prstGeom prst="roundRect">
            <a:avLst>
              <a:gd name="adj" fmla="val 6400"/>
            </a:avLst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813"/>
                </a:solidFill>
                <a:latin typeface="Arial"/>
              </a:rPr>
              <a:t>50 M FCFA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A1813"/>
                </a:solidFill>
                <a:latin typeface="Arial"/>
              </a:rPr>
              <a:t>100 contrats × 500 000 F, sans budget publicitaire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29500" y="4318000"/>
            <a:ext cx="3949700" cy="1651000"/>
          </a:xfrm>
          <a:prstGeom prst="roundRect">
            <a:avLst>
              <a:gd name="adj" fmla="val 6153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813"/>
                </a:solidFill>
                <a:latin typeface="Arial"/>
              </a:rPr>
              <a:t>200 biens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A5547"/>
                </a:solidFill>
                <a:latin typeface="Arial"/>
              </a:rPr>
              <a:t>à recenser en 30 jours, dont 50 % de membres Canton Bell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2 · LA VISIBILITÉ · COMMUNICATION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Cinq réseaux, un contenu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On crée une fois, on republie partout. Trois réseaux principaux, deux en reprise, et des outils gratuits : Canva, CapCut, WhatsApp Business.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2603500"/>
          <a:ext cx="105664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608"/>
                <a:gridCol w="3592576"/>
                <a:gridCol w="2535936"/>
                <a:gridCol w="2113280"/>
              </a:tblGrid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4EFE2"/>
                          </a:solidFill>
                          <a:latin typeface="Arial"/>
                        </a:rPr>
                        <a:t>Réseau</a:t>
                      </a:r>
                    </a:p>
                  </a:txBody>
                  <a:tcPr anchor="ctr">
                    <a:solidFill>
                      <a:srgbClr val="1A181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4EFE2"/>
                          </a:solidFill>
                          <a:latin typeface="Arial"/>
                        </a:rPr>
                        <a:t>Rôle</a:t>
                      </a:r>
                    </a:p>
                  </a:txBody>
                  <a:tcPr anchor="ctr">
                    <a:solidFill>
                      <a:srgbClr val="1A181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4EFE2"/>
                          </a:solidFill>
                          <a:latin typeface="Arial"/>
                        </a:rPr>
                        <a:t>Rythme</a:t>
                      </a:r>
                    </a:p>
                  </a:txBody>
                  <a:tcPr anchor="ctr">
                    <a:solidFill>
                      <a:srgbClr val="1A181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4EFE2"/>
                          </a:solidFill>
                          <a:latin typeface="Arial"/>
                        </a:rPr>
                        <a:t>Objectif mois 5</a:t>
                      </a:r>
                    </a:p>
                  </a:txBody>
                  <a:tcPr anchor="ctr">
                    <a:solidFill>
                      <a:srgbClr val="1A1813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Facebook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Pages et groupes locaux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4 posts / semaine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800 abonnés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TikTok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Confiance par la vidéo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3 vidéos / semaine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600 abonnés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WhatsApp Business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Répondre, fixer les rendez-vous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Statut 4 fois / semaine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140 messages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Instagram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Vitrine : mêmes contenus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3 posts / semaine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300 abonnés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LinkedIn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Diaspora, cadres, partenaires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1 post / semaine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150 abonnés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2 · LA VISIBILITÉ · COMMUNICATION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140 messages, 11 contrats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Sur cinq mois, 25 000 personnes touchées doivent produire 140 messages, dont des contacts sérieux, puis 11 contrats signés.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6350000" cy="3429000"/>
          </a:xfrm>
          <a:prstGeom prst="roundRect">
            <a:avLst>
              <a:gd name="adj" fmla="val 296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76300" y="2603500"/>
          <a:ext cx="6223000" cy="330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29500" y="2540000"/>
            <a:ext cx="3949700" cy="3429000"/>
          </a:xfrm>
          <a:prstGeom prst="roundRect">
            <a:avLst>
              <a:gd name="adj" fmla="val 296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190500" tIns="190500" bIns="1905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Comment lire l’entonnoir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547"/>
                </a:solidFill>
                <a:latin typeface="Arial"/>
              </a:rPr>
              <a:t>Message reçu : toute prise de contact (WhatsApp, Facebook, TikTok).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547"/>
                </a:solidFill>
                <a:latin typeface="Arial"/>
              </a:rPr>
              <a:t>Contact sérieux : propriétaire avec un bien à confier. 40 % des messages (56 sur 140).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547"/>
                </a:solidFill>
                <a:latin typeface="Arial"/>
              </a:rPr>
              <a:t>Rendez-vous ou visite : 50 % des contacts sérieux.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A5547"/>
                </a:solidFill>
                <a:latin typeface="Arial"/>
              </a:rPr>
              <a:t>Contrat signé : 40 % des rendez-vous, soit 5,5 M FCFA.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2 · LA VISIBILITÉ · COMMUNICATION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Un pilotage en trois temps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Chaque jour a son rendez-vous éditorial : conseil, bien du mardi, preuve, question, offre, coulisses. Trois réunions et des réflexes de crise cadrent le tout.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667000"/>
            <a:ext cx="2527300" cy="2286000"/>
          </a:xfrm>
          <a:prstGeom prst="roundRect">
            <a:avLst>
              <a:gd name="adj" fmla="val 4444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LUN.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Calendrier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15 minutes pour fixer les publications de la semaine.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2500" y="2667000"/>
            <a:ext cx="2527300" cy="2286000"/>
          </a:xfrm>
          <a:prstGeom prst="roundRect">
            <a:avLst>
              <a:gd name="adj" fmla="val 4444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VEN.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Chiffres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20 minutes sur portée, messages et contacts sérieux.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667000"/>
            <a:ext cx="2527300" cy="2286000"/>
          </a:xfrm>
          <a:prstGeom prst="roundRect">
            <a:avLst>
              <a:gd name="adj" fmla="val 4444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MOIS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Bilan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1 heure pour régler le mois suivant.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51900" y="2667000"/>
            <a:ext cx="2527300" cy="2286000"/>
          </a:xfrm>
          <a:prstGeom prst="roundRect">
            <a:avLst>
              <a:gd name="adj" fmla="val 4444"/>
            </a:avLst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CRISE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Réflexes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A1813"/>
                </a:solidFill>
                <a:latin typeface="Arial"/>
              </a:rPr>
              <a:t>Rumeur d’arnaque : direction alertée sous 1 h ; erreur corrigée sous 2 h.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3 · LA SÉCURITÉ · JURIDIQUE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Un dossier en trois étapes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Le pôle juridique étudie chaque dossier de location, ou de fonds de commerce, avant toute signature.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3420533" cy="2540000"/>
          </a:xfrm>
          <a:prstGeom prst="roundRect">
            <a:avLst>
              <a:gd name="adj" fmla="val 40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813"/>
                </a:solidFill>
                <a:latin typeface="Arial"/>
              </a:rPr>
              <a:t>Collecter et vérifier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A5547"/>
                </a:solidFill>
                <a:latin typeface="Arial"/>
              </a:rPr>
              <a:t>Bailleur : CNI et titre de propriété. Demandeur : identité, titre de séjour, avis d’imposition, NIU.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5733" y="2540000"/>
            <a:ext cx="3420533" cy="2540000"/>
          </a:xfrm>
          <a:prstGeom prst="roundRect">
            <a:avLst>
              <a:gd name="adj" fmla="val 40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813"/>
                </a:solidFill>
                <a:latin typeface="Arial"/>
              </a:rPr>
              <a:t>Mesurer la solvabilité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A5547"/>
                </a:solidFill>
                <a:latin typeface="Arial"/>
              </a:rPr>
              <a:t>Revenu net, capacité locative, dépôt de garantie, contact de l’ancien bailleur.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8666" y="2540000"/>
            <a:ext cx="3420533" cy="2540000"/>
          </a:xfrm>
          <a:prstGeom prst="roundRect">
            <a:avLst>
              <a:gd name="adj" fmla="val 4000"/>
            </a:avLst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813"/>
                </a:solidFill>
                <a:latin typeface="Arial"/>
              </a:rPr>
              <a:t>Conclure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A1813"/>
                </a:solidFill>
                <a:latin typeface="Arial"/>
              </a:rPr>
              <a:t>Visite et état des lieux contradictoire, bail, lettre d’engagement, assurance loyers impayés.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3 · LA SÉCURITÉ · JURIDIQUE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Un loyer sous le seuil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Règle : le loyer ne doit pas dépasser le tiers du revenu mensuel net. Exemple avec un demandeur à 6 000 000 F de revenus par 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6350000" cy="3429000"/>
          </a:xfrm>
          <a:prstGeom prst="roundRect">
            <a:avLst>
              <a:gd name="adj" fmla="val 296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76300" y="2603500"/>
          <a:ext cx="6223000" cy="330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29500" y="2540000"/>
            <a:ext cx="3949700" cy="3429000"/>
          </a:xfrm>
          <a:prstGeom prst="roundRect">
            <a:avLst>
              <a:gd name="adj" fmla="val 296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190500" tIns="190500" bIns="1905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Lire l’exemple pas à pas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547"/>
                </a:solidFill>
                <a:latin typeface="Arial"/>
              </a:rPr>
              <a:t>Revenus : 6 000 000 F par an, soit 500 000 F par mois.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547"/>
                </a:solidFill>
                <a:latin typeface="Arial"/>
              </a:rPr>
              <a:t>Capacité locative : 500 000 ÷ 3 = 166 667 F, le loyer maximal.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547"/>
                </a:solidFill>
                <a:latin typeface="Arial"/>
              </a:rPr>
              <a:t>Loyer de 150 000 F : sous la capacité, dossier accepté.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547"/>
                </a:solidFill>
                <a:latin typeface="Arial"/>
              </a:rPr>
              <a:t>Loyer de 200 000 F : au-dessus, dossier refusé.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A5547"/>
                </a:solidFill>
                <a:latin typeface="Arial"/>
              </a:rPr>
              <a:t>Assurance loyers impayés : 2,5 à 4,5 %, soit 3 750 à 6 750 F par mois.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3 · LA SÉCURITÉ · JURIDIQUE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Cinq étapes, des rôles clairs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De l’entrée en relation aux cas particuliers, chaque étape a un responsable identifié.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1991360" cy="2730500"/>
          </a:xfrm>
          <a:prstGeom prst="roundRect">
            <a:avLst>
              <a:gd name="adj" fmla="val 510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Entrée en relation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Analyste juridique : étude du dossier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56560" y="2540000"/>
            <a:ext cx="1991360" cy="2730500"/>
          </a:xfrm>
          <a:prstGeom prst="roundRect">
            <a:avLst>
              <a:gd name="adj" fmla="val 510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État des lieux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Bailleur, agent Immo Bell et locataire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00320" y="2540000"/>
            <a:ext cx="1991360" cy="2730500"/>
          </a:xfrm>
          <a:prstGeom prst="roundRect">
            <a:avLst>
              <a:gd name="adj" fmla="val 510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Approbation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Chef de projet ; commission pour les fonds de commerce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44080" y="2540000"/>
            <a:ext cx="1991360" cy="2730500"/>
          </a:xfrm>
          <a:prstGeom prst="roundRect">
            <a:avLst>
              <a:gd name="adj" fmla="val 510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Suivi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Analyste : contrôle des échéanciers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87840" y="2540000"/>
            <a:ext cx="1991360" cy="2730500"/>
          </a:xfrm>
          <a:prstGeom prst="roundRect">
            <a:avLst>
              <a:gd name="adj" fmla="val 5102"/>
            </a:avLst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5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Cas particuliers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A1813"/>
                </a:solidFill>
                <a:latin typeface="Arial"/>
              </a:rPr>
              <a:t>Décès, impayés, sous-location : huissier, avocat, assurance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B000"/>
                </a:solidFill>
                <a:latin typeface="Arial"/>
              </a:rPr>
              <a:t>L’OUTIL · LA PLATEFORME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F4EFE2"/>
                </a:solidFill>
                <a:latin typeface="Arial"/>
              </a:rPr>
              <a:t>Un site, cinq espaces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BDB6A3"/>
                </a:solidFill>
                <a:latin typeface="Arial"/>
              </a:rPr>
              <a:t>Chaque pôle a son espace : le client, le propriétaire, l’analyste juridique, le prestataire et l’administrateur.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1981200" cy="1905000"/>
          </a:xfrm>
          <a:prstGeom prst="roundRect">
            <a:avLst>
              <a:gd name="adj" fmla="val 5333"/>
            </a:avLst>
          </a:prstGeom>
          <a:solidFill>
            <a:srgbClr val="1D1B15"/>
          </a:solidFill>
          <a:ln w="9525">
            <a:solidFill>
              <a:srgbClr val="3A3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190500" tIns="190500" bIns="1905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EFE2"/>
                </a:solidFill>
                <a:latin typeface="Arial"/>
              </a:rPr>
              <a:t>Client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BDB6A3"/>
                </a:solidFill>
                <a:latin typeface="Arial"/>
              </a:rPr>
              <a:t>Cherche, réserve et suit son dossier en 6 étapes.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46400" y="2540000"/>
            <a:ext cx="1981200" cy="1905000"/>
          </a:xfrm>
          <a:prstGeom prst="roundRect">
            <a:avLst>
              <a:gd name="adj" fmla="val 5333"/>
            </a:avLst>
          </a:prstGeom>
          <a:solidFill>
            <a:srgbClr val="1D1B15"/>
          </a:solidFill>
          <a:ln w="9525">
            <a:solidFill>
              <a:srgbClr val="3A3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190500" tIns="190500" bIns="1905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EFE2"/>
                </a:solidFill>
                <a:latin typeface="Arial"/>
              </a:rPr>
              <a:t>Propriétaire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BDB6A3"/>
                </a:solidFill>
                <a:latin typeface="Arial"/>
              </a:rPr>
              <a:t>Confie ses biens, suit calendrier et relevés.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0000" y="2540000"/>
            <a:ext cx="1981200" cy="1905000"/>
          </a:xfrm>
          <a:prstGeom prst="roundRect">
            <a:avLst>
              <a:gd name="adj" fmla="val 5333"/>
            </a:avLst>
          </a:prstGeom>
          <a:solidFill>
            <a:srgbClr val="1D1B15"/>
          </a:solidFill>
          <a:ln w="9525">
            <a:solidFill>
              <a:srgbClr val="3A3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190500" tIns="190500" bIns="1905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EFE2"/>
                </a:solidFill>
                <a:latin typeface="Arial"/>
              </a:rPr>
              <a:t>Analyste juridique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BDB6A3"/>
                </a:solidFill>
                <a:latin typeface="Arial"/>
              </a:rPr>
              <a:t>Étudie les dossiers sous 72 h et décide.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13600" y="2540000"/>
            <a:ext cx="1981200" cy="1905000"/>
          </a:xfrm>
          <a:prstGeom prst="roundRect">
            <a:avLst>
              <a:gd name="adj" fmla="val 5333"/>
            </a:avLst>
          </a:prstGeom>
          <a:solidFill>
            <a:srgbClr val="1D1B15"/>
          </a:solidFill>
          <a:ln w="9525">
            <a:solidFill>
              <a:srgbClr val="3A3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190500" tIns="190500" bIns="1905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EFE2"/>
                </a:solidFill>
                <a:latin typeface="Arial"/>
              </a:rPr>
              <a:t>Prestataire agréé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BDB6A3"/>
                </a:solidFill>
                <a:latin typeface="Arial"/>
              </a:rPr>
              <a:t>Reçoit urgences et devis, rend son rapport.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47200" y="2540000"/>
            <a:ext cx="1981200" cy="1905000"/>
          </a:xfrm>
          <a:prstGeom prst="roundRect">
            <a:avLst>
              <a:gd name="adj" fmla="val 5333"/>
            </a:avLst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190500" tIns="190500" bIns="1905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Administrateur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A1813"/>
                </a:solidFill>
                <a:latin typeface="Arial"/>
              </a:rPr>
              <a:t>Valide les biens et pilote tout le reste.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4826000"/>
            <a:ext cx="105664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DB6A3"/>
                </a:solidFill>
                <a:latin typeface="Arial"/>
              </a:rPr>
              <a:t>Recherche, visite 360°, simulateur de budget, assistante Awa, français et anglais, thème clair et sombre, version mobile.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DB6A3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12" name="Picture 11" descr="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L’OUTIL · LA PLATEFORME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De la demande à la remise des clés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1638300" cy="1587500"/>
          </a:xfrm>
          <a:prstGeom prst="roundRect">
            <a:avLst>
              <a:gd name="adj" fmla="val 64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Demande reçue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7150" y="2095500"/>
            <a:ext cx="1638300" cy="1587500"/>
          </a:xfrm>
          <a:prstGeom prst="roundRect">
            <a:avLst>
              <a:gd name="adj" fmla="val 64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Dossier complet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500" y="2095500"/>
            <a:ext cx="1638300" cy="1587500"/>
          </a:xfrm>
          <a:prstGeom prst="roundRect">
            <a:avLst>
              <a:gd name="adj" fmla="val 64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Étude juridique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5850" y="2095500"/>
            <a:ext cx="1638300" cy="1587500"/>
          </a:xfrm>
          <a:prstGeom prst="roundRect">
            <a:avLst>
              <a:gd name="adj" fmla="val 64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Validée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0200" y="2095500"/>
            <a:ext cx="1638300" cy="1587500"/>
          </a:xfrm>
          <a:prstGeom prst="roundRect">
            <a:avLst>
              <a:gd name="adj" fmla="val 64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5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État des lieux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34550" y="2095500"/>
            <a:ext cx="1638300" cy="1587500"/>
          </a:xfrm>
          <a:prstGeom prst="roundRect">
            <a:avLst>
              <a:gd name="adj" fmla="val 6400"/>
            </a:avLst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6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Remise des clés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4191000"/>
            <a:ext cx="3302000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72 h</a:t>
            </a:r>
            <a:r>
              <a:rPr sz="1600" b="0">
                <a:solidFill>
                  <a:srgbClr val="1A1813"/>
                </a:solidFill>
                <a:latin typeface="Arial"/>
              </a:rPr>
              <a:t> pour décider, avec un compte à rebours visible.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9600" y="4191000"/>
            <a:ext cx="3302000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Motif obligatoire</a:t>
            </a:r>
            <a:r>
              <a:rPr sz="1600" b="0">
                <a:solidFill>
                  <a:srgbClr val="1A1813"/>
                </a:solidFill>
                <a:latin typeface="Arial"/>
              </a:rPr>
              <a:t> en cas de rejet.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6400" y="4191000"/>
            <a:ext cx="3302000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Client prévenu</a:t>
            </a:r>
            <a:r>
              <a:rPr sz="1600" b="0">
                <a:solidFill>
                  <a:srgbClr val="1A1813"/>
                </a:solidFill>
                <a:latin typeface="Arial"/>
              </a:rPr>
              <a:t> à chaque étape.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B000"/>
                </a:solidFill>
                <a:latin typeface="Arial"/>
              </a:rPr>
              <a:t>L’OUTIL · LA PLATEFORME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1079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F4EFE2"/>
                </a:solidFill>
                <a:latin typeface="Arial"/>
              </a:rPr>
              <a:t>Les droits sont contrôlés par le serveur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755900"/>
            <a:ext cx="101600" cy="101600"/>
          </a:xfrm>
          <a:prstGeom prst="rect">
            <a:avLst/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7600" y="2603500"/>
            <a:ext cx="10160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4EFE2"/>
                </a:solidFill>
                <a:latin typeface="Arial"/>
              </a:rPr>
              <a:t>Un client ne voit que ses propres dossiers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263900"/>
            <a:ext cx="101600" cy="101600"/>
          </a:xfrm>
          <a:prstGeom prst="rect">
            <a:avLst/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7600" y="3111500"/>
            <a:ext cx="10160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4EFE2"/>
                </a:solidFill>
                <a:latin typeface="Arial"/>
              </a:rPr>
              <a:t>Un propriétaire ne valide pas son propre bien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3771900"/>
            <a:ext cx="101600" cy="101600"/>
          </a:xfrm>
          <a:prstGeom prst="rect">
            <a:avLst/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7600" y="3619500"/>
            <a:ext cx="10160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4EFE2"/>
                </a:solidFill>
                <a:latin typeface="Arial"/>
              </a:rPr>
              <a:t>Un prestataire ne voit que ses interventions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4279900"/>
            <a:ext cx="101600" cy="101600"/>
          </a:xfrm>
          <a:prstGeom prst="rect">
            <a:avLst/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7600" y="4127500"/>
            <a:ext cx="10160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4EFE2"/>
                </a:solidFill>
                <a:latin typeface="Arial"/>
              </a:rPr>
              <a:t>Seuls l’analyste juridique et l’administrateur décident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4787900"/>
            <a:ext cx="101600" cy="101600"/>
          </a:xfrm>
          <a:prstGeom prst="rect">
            <a:avLst/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600" y="4635500"/>
            <a:ext cx="10160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4EFE2"/>
                </a:solidFill>
                <a:latin typeface="Arial"/>
              </a:rPr>
              <a:t>80 tests automatiques sur l’API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" y="527050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DB6A3"/>
                </a:solidFill>
                <a:latin typeface="Arial"/>
              </a:rPr>
              <a:t>À faire avant l’ouverture au public : audit de sécurité indépendant et double authentification des administrateurs.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DB6A3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16" name="Picture 15" descr="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4 · LE SUIVI · ADMINISTRATIF &amp; RH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Un circuit sans blocage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Le pôle suit chaque bail : contrôle des pièces, relances, transmission, et escalade dès qu’un point bloque.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2527300" cy="3048000"/>
          </a:xfrm>
          <a:prstGeom prst="roundRect">
            <a:avLst>
              <a:gd name="adj" fmla="val 402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Réception et contrôle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Complétude des pièces, relance si besoin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2500" y="2540000"/>
            <a:ext cx="2527300" cy="3048000"/>
          </a:xfrm>
          <a:prstGeom prst="roundRect">
            <a:avLst>
              <a:gd name="adj" fmla="val 402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Suivi et relance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Baux, attestations et échéances tracés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540000"/>
            <a:ext cx="2527300" cy="3048000"/>
          </a:xfrm>
          <a:prstGeom prst="roundRect">
            <a:avLst>
              <a:gd name="adj" fmla="val 402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Transmission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Information des responsables, suivi des validations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51900" y="2540000"/>
            <a:ext cx="2527300" cy="3048000"/>
          </a:xfrm>
          <a:prstGeom prst="roundRect">
            <a:avLst>
              <a:gd name="adj" fmla="val 4020"/>
            </a:avLst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En cas de blocage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A1813"/>
                </a:solidFill>
                <a:latin typeface="Arial"/>
              </a:rPr>
              <a:t>Identifier, coordonner, escalader. Décès, impayés, sous-location : l’analyste juridique traite, avec huissier, avocat et assurance si besoin.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4 · LE SUIVI · ADMINISTRATIF &amp; RH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Dossiers et support RH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Le contrat se clôt par trois signatures : état des lieux, bail, lettre d’engagement et déclaration sur l’honneur.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3420533" cy="2540000"/>
          </a:xfrm>
          <a:prstGeom prst="roundRect">
            <a:avLst>
              <a:gd name="adj" fmla="val 40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BAILLEUR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813"/>
                </a:solidFill>
                <a:latin typeface="Arial"/>
              </a:rPr>
              <a:t>Dossier propriétaire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A5547"/>
                </a:solidFill>
                <a:latin typeface="Arial"/>
              </a:rPr>
              <a:t>Pièces d’identité, documents de propriété, informations sur le bien.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5733" y="2540000"/>
            <a:ext cx="3420533" cy="2540000"/>
          </a:xfrm>
          <a:prstGeom prst="roundRect">
            <a:avLst>
              <a:gd name="adj" fmla="val 40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LOCATAIRE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813"/>
                </a:solidFill>
                <a:latin typeface="Arial"/>
              </a:rPr>
              <a:t>Dossier locataire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A5547"/>
                </a:solidFill>
                <a:latin typeface="Arial"/>
              </a:rPr>
              <a:t>Justificatifs, contrats, garanties, assurances et états des lieux à jour.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8666" y="2540000"/>
            <a:ext cx="3420533" cy="2540000"/>
          </a:xfrm>
          <a:prstGeom prst="roundRect">
            <a:avLst>
              <a:gd name="adj" fmla="val 4000"/>
            </a:avLst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RH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813"/>
                </a:solidFill>
                <a:latin typeface="Arial"/>
              </a:rPr>
              <a:t>Support au personnel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A1813"/>
                </a:solidFill>
                <a:latin typeface="Arial"/>
              </a:rPr>
              <a:t>Contrats, recrutement, intégration, plan de formation et conformité sociale.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5 · LA LIVRAISON · TRANSPORT &amp; SUPPLY 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Une logistique à intégrer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À Douala 1er, les moyens logistiques ne sont pas intégrés au Canton Bell : le pôle Transport comble ce manque.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3420533" cy="2540000"/>
          </a:xfrm>
          <a:prstGeom prst="roundRect">
            <a:avLst>
              <a:gd name="adj" fmla="val 40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CONSTAT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813"/>
                </a:solidFill>
                <a:latin typeface="Arial"/>
              </a:rPr>
              <a:t>Moyens dispersés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A5547"/>
                </a:solidFill>
                <a:latin typeface="Arial"/>
              </a:rPr>
              <a:t>Pas de service de déménagement professionnel ni de flotte de mobilité urbaine.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5733" y="2540000"/>
            <a:ext cx="3420533" cy="2540000"/>
          </a:xfrm>
          <a:prstGeom prst="roundRect">
            <a:avLst>
              <a:gd name="adj" fmla="val 400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SOLUTION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813"/>
                </a:solidFill>
                <a:latin typeface="Arial"/>
              </a:rPr>
              <a:t>Base et flotte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A5547"/>
                </a:solidFill>
                <a:latin typeface="Arial"/>
              </a:rPr>
              <a:t>Base de données des moyens, services de déménagement, petite flotte de véhicules.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8666" y="2540000"/>
            <a:ext cx="3420533" cy="2540000"/>
          </a:xfrm>
          <a:prstGeom prst="roundRect">
            <a:avLst>
              <a:gd name="adj" fmla="val 4000"/>
            </a:avLst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CIBLES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813"/>
                </a:solidFill>
                <a:latin typeface="Arial"/>
              </a:rPr>
              <a:t>Trois publics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A1813"/>
                </a:solidFill>
                <a:latin typeface="Arial"/>
              </a:rPr>
              <a:t>Riverains de Douala 1er, bailleurs et propriétaires, locataires (cadres, expatriés).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5 · LA LIVRAISON · TRANSPORT &amp; SUPPLY 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Les tarifs à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Les prix des services annexes sont fixés pour rassurer une clientèle de meublés et de cadres, sans viser le low-cost.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2603500"/>
          <a:ext cx="10566400" cy="2613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0"/>
                <a:gridCol w="3169920"/>
                <a:gridCol w="4226560"/>
              </a:tblGrid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4EFE2"/>
                          </a:solidFill>
                          <a:latin typeface="Arial"/>
                        </a:rPr>
                        <a:t>Service</a:t>
                      </a:r>
                    </a:p>
                  </a:txBody>
                  <a:tcPr anchor="ctr">
                    <a:solidFill>
                      <a:srgbClr val="1A181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4EFE2"/>
                          </a:solidFill>
                          <a:latin typeface="Arial"/>
                        </a:rPr>
                        <a:t>Tarif</a:t>
                      </a:r>
                    </a:p>
                  </a:txBody>
                  <a:tcPr anchor="ctr">
                    <a:solidFill>
                      <a:srgbClr val="1A181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4EFE2"/>
                          </a:solidFill>
                          <a:latin typeface="Arial"/>
                        </a:rPr>
                        <a:t>Repère</a:t>
                      </a:r>
                    </a:p>
                  </a:txBody>
                  <a:tcPr anchor="ctr">
                    <a:solidFill>
                      <a:srgbClr val="1A1813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VTC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3 000 F + 300 F/km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Marché Yango : 2 000 à 3 500 F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Déménagement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50 k / 90 k / 150 k F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Studio, 2 chambres, 3 chambres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Achat international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12 % de commission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Minimum 50 000 F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Maintenance meublé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20 000 F par mois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Visite préventive mensuelle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Intervention urgence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10 000 F + pièces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Disponible 24 h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Audit électrique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30 000 F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813"/>
                          </a:solidFill>
                          <a:latin typeface="Arial"/>
                        </a:rPr>
                        <a:t>Avant mise en location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5 · LA LIVRAISON · TRANSPORT &amp; SUPPLY 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Déjà la moitié du chemin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La roadmap avance : trois actions sur six sont faites, et le lancement de la flotte est fixé au 1er janvier 2027.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6350000" cy="3429000"/>
          </a:xfrm>
          <a:prstGeom prst="roundRect">
            <a:avLst>
              <a:gd name="adj" fmla="val 296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76300" y="2603500"/>
          <a:ext cx="6223000" cy="330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29500" y="2540000"/>
            <a:ext cx="3949700" cy="3429000"/>
          </a:xfrm>
          <a:prstGeom prst="roundRect">
            <a:avLst>
              <a:gd name="adj" fmla="val 296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190500" tIns="190500" bIns="1905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813"/>
                </a:solidFill>
                <a:latin typeface="Arial"/>
              </a:rPr>
              <a:t>Lire la courbe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547"/>
                </a:solidFill>
                <a:latin typeface="Arial"/>
              </a:rPr>
              <a:t>Courbe noire : les 6 actions prévues, cumulées dans le temps.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547"/>
                </a:solidFill>
                <a:latin typeface="Arial"/>
              </a:rPr>
              <a:t>Courbe or : 3 actions réalisées (logo, formulaire véhicules, descente terrain).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547"/>
                </a:solidFill>
                <a:latin typeface="Arial"/>
              </a:rPr>
              <a:t>En cours : site web et e-mail pro.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A5547"/>
                </a:solidFill>
                <a:latin typeface="Arial"/>
              </a:rPr>
              <a:t>À venir : déménagements le 30/10, flotte Yango le 01/01/2027.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ACTIVITÉS COMPLÉMENTAIRES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Formation, maintenance, mécénat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Trois leviers à coût quasi nul renforcent l’offre immobilière et créent des revenus récurrents.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3420533" cy="2730500"/>
          </a:xfrm>
          <a:prstGeom prst="roundRect">
            <a:avLst>
              <a:gd name="adj" fmla="val 372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10 / MOIS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813"/>
                </a:solidFill>
                <a:latin typeface="Arial"/>
              </a:rPr>
              <a:t>Formation hôtelière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A5547"/>
                </a:solidFill>
                <a:latin typeface="Arial"/>
              </a:rPr>
              <a:t>Modules de 35 000 à 120 000 F ; 350 000 F de chiffre d’affaires visés dès le mois 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5733" y="2540000"/>
            <a:ext cx="3420533" cy="2730500"/>
          </a:xfrm>
          <a:prstGeom prst="roundRect">
            <a:avLst>
              <a:gd name="adj" fmla="val 3720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C28F00"/>
                </a:solidFill>
                <a:latin typeface="Arial"/>
              </a:rPr>
              <a:t>15 ABONNÉS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813"/>
                </a:solidFill>
                <a:latin typeface="Arial"/>
              </a:rPr>
              <a:t>Maintenance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A5547"/>
                </a:solidFill>
                <a:latin typeface="Arial"/>
              </a:rPr>
              <a:t>20 000 F par mois : 300 000 F de revenu récurrent visé au mois 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8666" y="2540000"/>
            <a:ext cx="3420533" cy="2730500"/>
          </a:xfrm>
          <a:prstGeom prst="roundRect">
            <a:avLst>
              <a:gd name="adj" fmla="val 3720"/>
            </a:avLst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rIns="215900" tIns="215900" bIns="215900"/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3 CONVENTIONS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813"/>
                </a:solidFill>
                <a:latin typeface="Arial"/>
              </a:rPr>
              <a:t>Mécénat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A1813"/>
                </a:solidFill>
                <a:latin typeface="Arial"/>
              </a:rPr>
              <a:t>Nuitées et salles creuses données : 300 000 F de valeur pour moins de 50 000 F de coût.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LES MOYENS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Des moyens modestes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Chaque pôle demande peu de ressources, avec 0 F de publicité sur toute la période.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2540000"/>
          <a:ext cx="10566400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592"/>
                <a:gridCol w="7607808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4EFE2"/>
                          </a:solidFill>
                          <a:latin typeface="Arial"/>
                        </a:rPr>
                        <a:t>Pôle</a:t>
                      </a:r>
                    </a:p>
                  </a:txBody>
                  <a:tcPr anchor="ctr">
                    <a:solidFill>
                      <a:srgbClr val="1A181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4EFE2"/>
                          </a:solidFill>
                          <a:latin typeface="Arial"/>
                        </a:rPr>
                        <a:t>Ressources demandées</a:t>
                      </a:r>
                    </a:p>
                  </a:txBody>
                  <a:tcPr anchor="ctr">
                    <a:solidFill>
                      <a:srgbClr val="1A181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813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813"/>
                          </a:solidFill>
                          <a:latin typeface="Arial"/>
                        </a:rPr>
                        <a:t>Aucun budget ; Google Forms et Canva gratuits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813"/>
                          </a:solidFill>
                          <a:latin typeface="Arial"/>
                        </a:rPr>
                        <a:t>Communication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813"/>
                          </a:solidFill>
                          <a:latin typeface="Arial"/>
                        </a:rPr>
                        <a:t>3 profils créatifs, environ 12 h par semaine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813"/>
                          </a:solidFill>
                          <a:latin typeface="Arial"/>
                        </a:rPr>
                        <a:t>Juridique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813"/>
                          </a:solidFill>
                          <a:latin typeface="Arial"/>
                        </a:rPr>
                        <a:t>1 analyste juridique en CDD, téléphone et crédit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813"/>
                          </a:solidFill>
                          <a:latin typeface="Arial"/>
                        </a:rPr>
                        <a:t>Administratif &amp; RH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813"/>
                          </a:solidFill>
                          <a:latin typeface="Arial"/>
                        </a:rPr>
                        <a:t>2 analystes juridiques en CDD, outils d’archivage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813"/>
                          </a:solidFill>
                          <a:latin typeface="Arial"/>
                        </a:rPr>
                        <a:t>Transport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813"/>
                          </a:solidFill>
                          <a:latin typeface="Arial"/>
                        </a:rPr>
                        <a:t>2 Toyota Yaris, site web, shooting photo, impression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LA DÉCISION · DIRECTION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Ce qu’il faut trancher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09750"/>
            <a:ext cx="105664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Les réseaux ne portent qu’un dixième de l’objectif : le terrain et les partenaires font le reste.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4826000" cy="3429000"/>
          </a:xfrm>
          <a:prstGeom prst="roundRect">
            <a:avLst>
              <a:gd name="adj" fmla="val 2962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76300" y="2603500"/>
          <a:ext cx="4699000" cy="330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842000" y="2540000"/>
            <a:ext cx="5537200" cy="3429000"/>
          </a:xfrm>
          <a:prstGeom prst="roundRect">
            <a:avLst>
              <a:gd name="adj" fmla="val 2962"/>
            </a:avLst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1A1813"/>
                </a:solidFill>
                <a:latin typeface="Arial"/>
              </a:rPr>
              <a:t>À aligner entre pôles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813"/>
                </a:solidFill>
                <a:latin typeface="Arial"/>
              </a:rPr>
              <a:t>Analystes juridiques : 1 ou 2 ?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813"/>
                </a:solidFill>
                <a:latin typeface="Arial"/>
              </a:rPr>
              <a:t>Dates : 15 septembre ou 15 octobre 2026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813"/>
                </a:solidFill>
                <a:latin typeface="Arial"/>
              </a:rPr>
              <a:t>Véhicules : 10 avant l’ouverture ou 15 en 21 jours 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1813"/>
                </a:solidFill>
                <a:latin typeface="Arial"/>
              </a:rPr>
              <a:t>Rythme : 100 contrats en 12 semaines ou 5 mois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SYNCHRONISATION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Écarts à aligner avant la présentation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68500"/>
          <a:ext cx="10566400" cy="176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624"/>
                <a:gridCol w="4437888"/>
                <a:gridCol w="4437888"/>
              </a:tblGrid>
              <a:tr h="2933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4EFE2"/>
                          </a:solidFill>
                          <a:latin typeface="Arial"/>
                        </a:rPr>
                        <a:t>Sujet</a:t>
                      </a:r>
                    </a:p>
                  </a:txBody>
                  <a:tcPr anchor="ctr">
                    <a:solidFill>
                      <a:srgbClr val="1A181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4EFE2"/>
                          </a:solidFill>
                          <a:latin typeface="Arial"/>
                        </a:rPr>
                        <a:t>Synthèse de direction</a:t>
                      </a:r>
                    </a:p>
                  </a:txBody>
                  <a:tcPr anchor="ctr">
                    <a:solidFill>
                      <a:srgbClr val="1A181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4EFE2"/>
                          </a:solidFill>
                          <a:latin typeface="Arial"/>
                        </a:rPr>
                        <a:t>Site, rapports et démo</a:t>
                      </a:r>
                    </a:p>
                  </a:txBody>
                  <a:tcPr anchor="ctr">
                    <a:solidFill>
                      <a:srgbClr val="1A1813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Publicité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0 F sur toute la période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Rapport n° 2 : 300 000 à 800 000 F par mois de marketing (hypothèse)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Équipe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1 à 2 analystes en CDD, 3 profils créatifs à 12 h par semaine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Rapport n° 2 : 11 personnes à l’agence de Bonanjo (hypothèse)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Noms des packs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Essentiel 8 %, Confort 12 %, Premium Diaspora 18 % + 25 000 F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Site : Basic 8 %, Standard 12 %, Premium 18 %, Diaspora 18 % + 25 000 F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Déménagement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50 k, 90 k ou 150 k F (studio, 2 ou 3 chambres)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Site : formules Classique, Standard, Golf, sans tarif</a:t>
                      </a:r>
                    </a:p>
                  </a:txBody>
                  <a:tcPr anchor="ctr">
                    <a:solidFill>
                      <a:srgbClr val="F0EADA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Activités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Immobilier, logistique, formation hôtelière, maintenance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813"/>
                          </a:solidFill>
                          <a:latin typeface="Arial"/>
                        </a:rPr>
                        <a:t>Site : pas de formation ni de mécénat ; entretien par prestataires agréés</a:t>
                      </a:r>
                    </a:p>
                  </a:txBody>
                  <a:tcPr anchor="ctr">
                    <a:solidFill>
                      <a:srgbClr val="FBF8E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762000"/>
            <a:ext cx="10566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SYNCHRONISATION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066800"/>
            <a:ext cx="105664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>
                <a:solidFill>
                  <a:srgbClr val="1A1813"/>
                </a:solidFill>
                <a:latin typeface="Arial"/>
              </a:rPr>
              <a:t>Deux échelles de lancement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5181600" cy="3365500"/>
          </a:xfrm>
          <a:prstGeom prst="roundRect">
            <a:avLst>
              <a:gd name="adj" fmla="val 3018"/>
            </a:avLst>
          </a:prstGeom>
          <a:solidFill>
            <a:srgbClr val="FBF8EF"/>
          </a:solidFill>
          <a:ln w="9525">
            <a:solidFill>
              <a:srgbClr val="DCD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0" rIns="254000" tIns="254000" bIns="254000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5A00"/>
                </a:solidFill>
                <a:latin typeface="Arial"/>
              </a:rPr>
              <a:t>LANCEMENT LÉGER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A1813"/>
                </a:solidFill>
                <a:latin typeface="Arial"/>
              </a:rPr>
              <a:t>Synthèse de direction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0 F de publicité, outils gratuits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1 à 2 analystes en CDD, 3 profils créatifs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2 Toyota Yaris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100 contrats et 50 M FCFA en 12 semaines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7600" y="2095500"/>
            <a:ext cx="5181600" cy="3365500"/>
          </a:xfrm>
          <a:prstGeom prst="roundRect">
            <a:avLst>
              <a:gd name="adj" fmla="val 3018"/>
            </a:avLst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0" rIns="254000" tIns="254000" bIns="254000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A1813"/>
                </a:solidFill>
                <a:latin typeface="Arial"/>
              </a:rPr>
              <a:t>AGENCE COMPLÈTE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A1813"/>
                </a:solidFill>
                <a:latin typeface="Arial"/>
              </a:rPr>
              <a:t>Rapport n° 2 (hypothèses)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813"/>
                </a:solidFill>
                <a:latin typeface="Arial"/>
              </a:rPr>
              <a:t>Agence à Bonanjo, 11 personnes, plus 7 en logistique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813"/>
                </a:solidFill>
                <a:latin typeface="Arial"/>
              </a:rPr>
              <a:t>Besoin de 49 à 112 M FCFA, puis 11 à 26 M pour la logistique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813"/>
                </a:solidFill>
                <a:latin typeface="Arial"/>
              </a:rPr>
              <a:t>Seuil de rentabilité : 98 à 200 biens loués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1813"/>
                </a:solidFill>
                <a:latin typeface="Arial"/>
              </a:rPr>
              <a:t>Chiffres estimés, à remplacer par des devis locaux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5588000"/>
            <a:ext cx="10566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5547"/>
                </a:solidFill>
                <a:latin typeface="Arial"/>
              </a:rPr>
              <a:t>À arbitrer entre associés : quel périmètre présenter aux investisseurs.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619125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547"/>
                </a:solidFill>
                <a:latin typeface="Arial"/>
              </a:rPr>
              <a:t>Immo Bell · Confidentiel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6019800"/>
            <a:ext cx="762000" cy="61595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533400"/>
            <a:ext cx="1206500" cy="977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2800" y="2159000"/>
            <a:ext cx="10566400" cy="139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8000" b="1">
                <a:solidFill>
                  <a:srgbClr val="F4EFE2"/>
                </a:solidFill>
                <a:latin typeface="Arial"/>
              </a:rPr>
              <a:t>Merci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3619500"/>
            <a:ext cx="1270000" cy="50800"/>
          </a:xfrm>
          <a:prstGeom prst="rect">
            <a:avLst/>
          </a:prstGeom>
          <a:solidFill>
            <a:srgbClr val="F2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3937000"/>
            <a:ext cx="95250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BDB6A3"/>
                </a:solidFill>
                <a:latin typeface="Arial"/>
              </a:rPr>
              <a:t>Place à vos questions et à la démonstration en direct.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5397500"/>
            <a:ext cx="95250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4EFE2"/>
                </a:solidFill>
                <a:latin typeface="Arial"/>
              </a:rPr>
              <a:t>contact@immobell.cm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4EFE2"/>
                </a:solidFill>
                <a:latin typeface="Arial"/>
              </a:rPr>
              <a:t>Bonanjo, Douala · Service après-vente de 8 h à 18 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